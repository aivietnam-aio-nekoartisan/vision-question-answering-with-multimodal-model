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1e2ad998-c312-6567-f160-672c37b05035}">
          <p14:sldIdLst>
            <p14:sldId id="256"/>
            <p14:sldId id="257"/>
          </p14:sldIdLst>
        </p14:section>
        <p14:section name="Vai trò của VLM" id="{ae00c06e-7138-b5b8-c75b-fd563ffb68d6}">
          <p14:sldIdLst>
            <p14:sldId id="258"/>
            <p14:sldId id="259"/>
            <p14:sldId id="260"/>
          </p14:sldIdLst>
        </p14:section>
        <p14:section name="Kiến trúc" id="{7534622e-9938-77d1-f700-144d21822319}">
          <p14:sldIdLst>
            <p14:sldId id="261"/>
            <p14:sldId id="262"/>
            <p14:sldId id="263"/>
          </p14:sldIdLst>
        </p14:section>
        <p14:section name="Cách train" id="{770d3b50-c7a2-d999-e64a-240f25d32ee6}">
          <p14:sldIdLst>
            <p14:sldId id="264"/>
            <p14:sldId id="265"/>
            <p14:sldId id="266"/>
          </p14:sldIdLst>
        </p14:section>
        <p14:section name="Lựa chọn model" id="{55cdfd4d-1d86-1a65-79ef-c5cbf2fa0b15}">
          <p14:sldIdLst>
            <p14:sldId id="267"/>
            <p14:sldId id="268"/>
          </p14:sldIdLst>
        </p14:section>
        <p14:section name="Đánh giá" id="{17330a88-e24a-71e1-7e2d-12ef9fc9492c}">
          <p14:sldIdLst>
            <p14:sldId id="269"/>
            <p14:sldId id="270"/>
            <p14:sldId id="271"/>
            <p14:sldId id="272"/>
          </p14:sldIdLst>
        </p14:section>
        <p14:section name="Kết" id="{924ff9f9-41cf-e4f5-0316-ee0ceb6c3326}">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Qwen2.5-VL-3B</c:v>
                </c:pt>
              </c:strCache>
            </c:strRef>
          </c:tx>
          <c:spPr>
            <a:solidFill>
              <a:srgbClr val="02C39A"/>
            </a:solidFill>
            <a:effectLst/>
          </c:spPr>
          <c:invertIfNegative val="0"/>
          <c:dLbls>
            <c:numFmt formatCode="0.0" sourceLinked="0"/>
            <c:txPr>
              <a:bodyPr/>
              <a:lstStyle/>
              <a:p>
                <a:pPr>
                  <a:defRPr b="0" i="0" strike="noStrike" sz="900" u="none">
                    <a:solidFill>
                      <a:srgbClr val="5F7079"/>
                    </a:solidFill>
                    <a:latin typeface="+mn-lt"/>
                  </a:defRPr>
                </a:pPr>
              </a:p>
            </c:txPr>
            <c:showLegendKey val="0"/>
            <c:showVal val="1"/>
            <c:showCatName val="0"/>
            <c:showSerName val="0"/>
            <c:showPercent val="0"/>
            <c:showBubbleSize val="0"/>
            <c:showLeaderLines val="0"/>
          </c:dLbls>
          <c:cat>
            <c:multiLvlStrRef>
              <c:f>Sheet1!$A$2:$A$7</c:f>
              <c:multiLvlStrCache>
                <c:ptCount val="6"/>
                <c:lvl>
                  <c:pt idx="0">
                    <c:v>MMMU</c:v>
                  </c:pt>
                  <c:pt idx="1">
                    <c:v>DocVQA</c:v>
                  </c:pt>
                  <c:pt idx="2">
                    <c:v>InfoVQA</c:v>
                  </c:pt>
                  <c:pt idx="3">
                    <c:v>TextVQA</c:v>
                  </c:pt>
                  <c:pt idx="4">
                    <c:v>MathVista</c:v>
                  </c:pt>
                  <c:pt idx="5">
                    <c:v>MMStar</c:v>
                  </c:pt>
                </c:lvl>
              </c:multiLvlStrCache>
            </c:multiLvlStrRef>
          </c:cat>
          <c:val>
            <c:numRef>
              <c:f>Sheet1!$B$2:$B$7</c:f>
              <c:numCache>
                <c:formatCode>General</c:formatCode>
                <c:ptCount val="6"/>
                <c:pt idx="0">
                  <c:v>53.1</c:v>
                </c:pt>
                <c:pt idx="1">
                  <c:v>93.9</c:v>
                </c:pt>
                <c:pt idx="2">
                  <c:v>77.1</c:v>
                </c:pt>
                <c:pt idx="3">
                  <c:v>79.3</c:v>
                </c:pt>
                <c:pt idx="4">
                  <c:v>62.3</c:v>
                </c:pt>
                <c:pt idx="5">
                  <c:v>55.9</c:v>
                </c:pt>
              </c:numCache>
            </c:numRef>
          </c:val>
        </c:ser>
        <c:ser>
          <c:idx val="1"/>
          <c:order val="1"/>
          <c:tx>
            <c:strRef>
              <c:f>Sheet1!$C$1</c:f>
              <c:strCache>
                <c:ptCount val="1"/>
                <c:pt idx="0">
                  <c:v>Qwen2-VL-7B</c:v>
                </c:pt>
              </c:strCache>
            </c:strRef>
          </c:tx>
          <c:spPr>
            <a:solidFill>
              <a:srgbClr val="7A8B99"/>
            </a:solidFill>
            <a:effectLst/>
          </c:spPr>
          <c:invertIfNegative val="0"/>
          <c:dLbls>
            <c:numFmt formatCode="0.0" sourceLinked="0"/>
            <c:txPr>
              <a:bodyPr/>
              <a:lstStyle/>
              <a:p>
                <a:pPr>
                  <a:defRPr b="0" i="0" strike="noStrike" sz="900" u="none">
                    <a:solidFill>
                      <a:srgbClr val="5F7079"/>
                    </a:solidFill>
                    <a:latin typeface="+mn-lt"/>
                  </a:defRPr>
                </a:pPr>
              </a:p>
            </c:txPr>
            <c:showLegendKey val="0"/>
            <c:showVal val="1"/>
            <c:showCatName val="0"/>
            <c:showSerName val="0"/>
            <c:showPercent val="0"/>
            <c:showBubbleSize val="0"/>
            <c:showLeaderLines val="0"/>
          </c:dLbls>
          <c:cat>
            <c:multiLvlStrRef>
              <c:f>Sheet1!$A$2:$A$7</c:f>
              <c:multiLvlStrCache>
                <c:ptCount val="6"/>
                <c:lvl>
                  <c:pt idx="0">
                    <c:v>MMMU</c:v>
                  </c:pt>
                  <c:pt idx="1">
                    <c:v>DocVQA</c:v>
                  </c:pt>
                  <c:pt idx="2">
                    <c:v>InfoVQA</c:v>
                  </c:pt>
                  <c:pt idx="3">
                    <c:v>TextVQA</c:v>
                  </c:pt>
                  <c:pt idx="4">
                    <c:v>MathVista</c:v>
                  </c:pt>
                  <c:pt idx="5">
                    <c:v>MMStar</c:v>
                  </c:pt>
                </c:lvl>
              </c:multiLvlStrCache>
            </c:multiLvlStrRef>
          </c:cat>
          <c:val>
            <c:numRef>
              <c:f>Sheet1!$C$2:$C$7</c:f>
              <c:numCache>
                <c:formatCode>General</c:formatCode>
                <c:ptCount val="6"/>
                <c:pt idx="0">
                  <c:v>54.1</c:v>
                </c:pt>
                <c:pt idx="1">
                  <c:v>94.5</c:v>
                </c:pt>
                <c:pt idx="2">
                  <c:v>76.5</c:v>
                </c:pt>
                <c:pt idx="3">
                  <c:v>84.3</c:v>
                </c:pt>
                <c:pt idx="4">
                  <c:v>58.2</c:v>
                </c:pt>
                <c:pt idx="5">
                  <c:v>60.7</c:v>
                </c:pt>
              </c:numCache>
            </c:numRef>
          </c:val>
        </c:ser>
        <c:ser>
          <c:idx val="2"/>
          <c:order val="2"/>
          <c:tx>
            <c:strRef>
              <c:f>Sheet1!$D$1</c:f>
              <c:strCache>
                <c:ptCount val="1"/>
                <c:pt idx="0">
                  <c:v>InternVL2.5-4B</c:v>
                </c:pt>
              </c:strCache>
            </c:strRef>
          </c:tx>
          <c:spPr>
            <a:solidFill>
              <a:srgbClr val="CBD4D8"/>
            </a:solidFill>
            <a:effectLst/>
          </c:spPr>
          <c:invertIfNegative val="0"/>
          <c:dLbls>
            <c:numFmt formatCode="0.0" sourceLinked="0"/>
            <c:txPr>
              <a:bodyPr/>
              <a:lstStyle/>
              <a:p>
                <a:pPr>
                  <a:defRPr b="0" i="0" strike="noStrike" sz="900" u="none">
                    <a:solidFill>
                      <a:srgbClr val="5F7079"/>
                    </a:solidFill>
                    <a:latin typeface="+mn-lt"/>
                  </a:defRPr>
                </a:pPr>
              </a:p>
            </c:txPr>
            <c:showLegendKey val="0"/>
            <c:showVal val="1"/>
            <c:showCatName val="0"/>
            <c:showSerName val="0"/>
            <c:showPercent val="0"/>
            <c:showBubbleSize val="0"/>
            <c:showLeaderLines val="0"/>
          </c:dLbls>
          <c:cat>
            <c:multiLvlStrRef>
              <c:f>Sheet1!$A$2:$A$7</c:f>
              <c:multiLvlStrCache>
                <c:ptCount val="6"/>
                <c:lvl>
                  <c:pt idx="0">
                    <c:v>MMMU</c:v>
                  </c:pt>
                  <c:pt idx="1">
                    <c:v>DocVQA</c:v>
                  </c:pt>
                  <c:pt idx="2">
                    <c:v>InfoVQA</c:v>
                  </c:pt>
                  <c:pt idx="3">
                    <c:v>TextVQA</c:v>
                  </c:pt>
                  <c:pt idx="4">
                    <c:v>MathVista</c:v>
                  </c:pt>
                  <c:pt idx="5">
                    <c:v>MMStar</c:v>
                  </c:pt>
                </c:lvl>
              </c:multiLvlStrCache>
            </c:multiLvlStrRef>
          </c:cat>
          <c:val>
            <c:numRef>
              <c:f>Sheet1!$D$2:$D$7</c:f>
              <c:numCache>
                <c:formatCode>General</c:formatCode>
                <c:ptCount val="6"/>
                <c:pt idx="0">
                  <c:v>52.3</c:v>
                </c:pt>
                <c:pt idx="1">
                  <c:v>91.6</c:v>
                </c:pt>
                <c:pt idx="2">
                  <c:v>72.1</c:v>
                </c:pt>
                <c:pt idx="3">
                  <c:v>76.8</c:v>
                </c:pt>
                <c:pt idx="4">
                  <c:v>60.5</c:v>
                </c:pt>
                <c:pt idx="5">
                  <c:v>58.3</c:v>
                </c:pt>
              </c:numCache>
            </c:numRef>
          </c:val>
        </c:ser>
        <c:dLbls>
          <c:numFmt formatCode="0.0" sourceLinked="0"/>
          <c:txPr>
            <a:bodyPr/>
            <a:lstStyle/>
            <a:p>
              <a:pPr>
                <a:defRPr b="0" i="0" strike="noStrike" sz="900" u="none">
                  <a:solidFill>
                    <a:srgbClr val="5F7079"/>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36454F"/>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12700" cap="flat">
              <a:solidFill>
                <a:srgbClr val="E6EB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A8B99"/>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F707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VLM là bước cuối của pipeline, không phải bước tìm kiếm. Bốn con số này nên nhắc lại ở cuối bài.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dàn ý của cả bài. Ý số 5 là phần nghiên cứu, dành nhiều thời gian nhất cho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retrieval là bước nén input. Không có nó thì 380k token, vượt xa context 32k và VRAM của một GPU đơn.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loại câu hỏi này là lý do tồn tại của VLM trong pipeline. Nếu bài toán chỉ cần tìm frame thì không cần VLM.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frame phải kèm timestamp. Đây là chi tiết nhỏ nhưng quyết định độ chính xác của mọi câu hỏi temporal.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mạch sang phần kiến trúc. Một câu để nhớ là đủ, chi tiết nằm ở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cần đi sâu hơn bốn khối này. Nếu bị hỏi chi tiết thì dùng slide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Đúng thứ các câu hỏi trước/sau cần: trục thời gian tuyệt đối. Nhấn ý thứ 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Chuyển sang phần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Điểm cần nhấn: mỗi stage mở thêm module và kéo dài context. Stage 3 là lý do model đọc được nhiều frame cùng lúc.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DPO đóng băng ViT — chi tiết nhỏ nhưng cho thấy họ sợ làm hỏng phần thị giác. Dữ liệu OCR có tiếng Việt là điểm cộng cho đồ 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rõ đây là số của nhóm Qwen, không phải số mình đo. Số của mình sẽ thấp hơn vì khác prompt và khác số frame.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Lý do thực dụng: 3,75B tham số vừa một GPU 12–16 GB, đủ để chạy hết tập đánh giá nhiều lần và làm ablation.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quan trọng nhất của bài. Dành nhiều thời gian nhất ở đây.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Công thức này cho thấy vì sao accuracy cuối pipeline trộn hai loại lỗi. Ba metric phải báo cáo riêng.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Chạy cùng một tập câu hỏi, chỉ đổi phần input đưa vào VLM. Ba dòng cảnh báo là phần nghiên cứu mạnh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chủ động những giới hạn này. Nó cho thấy mình hiểu model chứ không chỉ gọi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ba câu, rồi mời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A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lstStyle>
            <a:lvl1pPr algn="l" indent="0" marL="0">
              <a:buNone/>
              <a:defRPr lang="en-US" sz="4800" b="1" dirty="0">
                <a:solidFill>
                  <a:srgbClr val="FFFFFF"/>
                </a:solidFill>
              </a:defRPr>
            </a:lvl1pPr>
          </a:lstStyle>
          <a:p>
            <a:pPr algn="l" indent="0" marL="0">
              <a:buNone/>
            </a:pPr>
            <a:endParaRPr lang="en-US" sz="4800" dirty="0"/>
          </a:p>
        </p:txBody>
      </p:sp>
      <p:sp>
        <p:nvSpPr>
          <p:cNvPr id="3" name="Text 0"/>
          <p:cNvSpPr/>
          <p:nvPr>
            <p:ph idx="101" type="body" hasCustomPrompt="1"/>
          </p:nvPr>
        </p:nvSpPr>
        <p:spPr>
          <a:xfrm>
            <a:off x="731520" y="3474720"/>
            <a:ext cx="9692640" cy="1005840"/>
          </a:xfrm>
          <a:prstGeom prst="rect">
            <a:avLst/>
          </a:prstGeom>
          <a:noFill/>
          <a:ln/>
        </p:spPr>
        <p:txBody>
          <a:bodyPr wrap="square" rtlCol="0"/>
          <a:lstStyle>
            <a:lvl1pPr algn="l" indent="0" marL="0">
              <a:buNone/>
              <a:defRPr lang="en-US" sz="1800" dirty="0">
                <a:solidFill>
                  <a:srgbClr val="AEB9C0"/>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A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698480" cy="10058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794760"/>
            <a:ext cx="9144000" cy="731520"/>
          </a:xfrm>
          <a:prstGeom prst="rect">
            <a:avLst/>
          </a:prstGeom>
          <a:noFill/>
          <a:ln/>
        </p:spPr>
        <p:txBody>
          <a:bodyPr wrap="square" rtlCol="0"/>
          <a:lstStyle>
            <a:lvl1pPr algn="l" indent="0" marL="0">
              <a:buNone/>
              <a:defRPr lang="en-US" sz="1600" dirty="0">
                <a:solidFill>
                  <a:srgbClr val="AEB9C0"/>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lstStyle>
            <a:lvl1pPr algn="l" indent="0" marL="0">
              <a:buNone/>
              <a:defRPr lang="en-US" sz="3200" b="1" dirty="0">
                <a:solidFill>
                  <a:srgbClr val="1A1F24"/>
                </a:solidFill>
              </a:defRPr>
            </a:lvl1pPr>
          </a:lstStyle>
          <a:p>
            <a:pPr algn="l" indent="0" marL="0">
              <a:buNone/>
            </a:pPr>
            <a:endParaRPr lang="en-US" sz="3200" dirty="0"/>
          </a:p>
        </p:txBody>
      </p:sp>
      <p:sp>
        <p:nvSpPr>
          <p:cNvPr id="3" name="Text 0"/>
          <p:cNvSpPr txBox="1"/>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AEB9C0"/>
                </a:solidFill>
              </a:rPr>
              <a:t>Qwen2.5-VL-3B · VLM sau retrieval</a:t>
            </a:r>
            <a:endParaRPr lang="en-US" sz="10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p:bg>
      <p:bgPr>
        <a:solidFill>
          <a:srgbClr val="1A1F2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10698480" cy="82296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280160"/>
          </a:xfrm>
          <a:prstGeom prst="rect">
            <a:avLst/>
          </a:prstGeom>
          <a:noFill/>
          <a:ln/>
        </p:spPr>
        <p:txBody>
          <a:bodyPr wrap="square" rtlCol="0" anchor="b"/>
          <a:lstStyle/>
          <a:p>
            <a:pPr algn="l" indent="0" marL="0">
              <a:buNone/>
            </a:pPr>
            <a:r>
              <a:rPr lang="en-US" sz="4800" b="1" dirty="0">
                <a:solidFill>
                  <a:srgbClr val="FFFFFF"/>
                </a:solidFill>
              </a:rPr>
              <a:t>Qwen2.5-VL-3B</a:t>
            </a:r>
            <a:endParaRPr lang="en-US" sz="4800" dirty="0"/>
          </a:p>
        </p:txBody>
      </p:sp>
      <p:sp>
        <p:nvSpPr>
          <p:cNvPr id="3" name="Text 0"/>
          <p:cNvSpPr/>
          <p:nvPr>
            <p:ph idx="101" type="body" hasCustomPrompt="1"/>
          </p:nvPr>
        </p:nvSpPr>
        <p:spPr>
          <a:xfrm>
            <a:off x="731520" y="3474720"/>
            <a:ext cx="9692640" cy="1005840"/>
          </a:xfrm>
          <a:prstGeom prst="rect">
            <a:avLst/>
          </a:prstGeom>
          <a:noFill/>
          <a:ln/>
        </p:spPr>
        <p:txBody>
          <a:bodyPr wrap="square" rtlCol="0" anchor="t"/>
          <a:lstStyle/>
          <a:p>
            <a:pPr algn="l" indent="0" marL="0">
              <a:buNone/>
            </a:pPr>
            <a:r>
              <a:rPr lang="en-US" sz="1800" dirty="0">
                <a:solidFill>
                  <a:srgbClr val="AEB9C0"/>
                </a:solidFill>
              </a:rPr>
              <a:t>Module reasoning của pipeline Video QA — kiến trúc, cách train, và cách đánh giá</a:t>
            </a:r>
            <a:endParaRPr lang="en-US" sz="1800" dirty="0"/>
          </a:p>
        </p:txBody>
      </p:sp>
      <p:sp>
        <p:nvSpPr>
          <p:cNvPr id="4" name="Text 2"/>
          <p:cNvSpPr txBox="1"/>
          <p:nvPr/>
        </p:nvSpPr>
        <p:spPr>
          <a:xfrm>
            <a:off x="731520" y="4983480"/>
            <a:ext cx="2468880" cy="548640"/>
          </a:xfrm>
          <a:prstGeom prst="rect">
            <a:avLst/>
          </a:prstGeom>
          <a:noFill/>
          <a:ln/>
        </p:spPr>
        <p:txBody>
          <a:bodyPr wrap="square" lIns="0" tIns="0" rIns="0" bIns="0" rtlCol="0" anchor="ctr"/>
          <a:lstStyle/>
          <a:p>
            <a:pPr indent="0" marL="0">
              <a:buNone/>
            </a:pPr>
            <a:r>
              <a:rPr lang="en-US" sz="3200" b="1" dirty="0">
                <a:solidFill>
                  <a:srgbClr val="02C39A"/>
                </a:solidFill>
              </a:rPr>
              <a:t>3,75B</a:t>
            </a:r>
            <a:endParaRPr lang="en-US" sz="3200" dirty="0"/>
          </a:p>
        </p:txBody>
      </p:sp>
      <p:sp>
        <p:nvSpPr>
          <p:cNvPr id="5" name="Text 3"/>
          <p:cNvSpPr txBox="1"/>
          <p:nvPr/>
        </p:nvSpPr>
        <p:spPr>
          <a:xfrm>
            <a:off x="731520" y="5532120"/>
            <a:ext cx="2468880" cy="320040"/>
          </a:xfrm>
          <a:prstGeom prst="rect">
            <a:avLst/>
          </a:prstGeom>
          <a:noFill/>
          <a:ln/>
        </p:spPr>
        <p:txBody>
          <a:bodyPr wrap="square" lIns="0" tIns="0" rIns="0" bIns="0" rtlCol="0" anchor="ctr"/>
          <a:lstStyle/>
          <a:p>
            <a:pPr indent="0" marL="0">
              <a:buNone/>
            </a:pPr>
            <a:r>
              <a:rPr lang="en-US" sz="1200" dirty="0">
                <a:solidFill>
                  <a:srgbClr val="AEB9C0"/>
                </a:solidFill>
              </a:rPr>
              <a:t>tham số</a:t>
            </a:r>
            <a:endParaRPr lang="en-US" sz="1200" dirty="0"/>
          </a:p>
        </p:txBody>
      </p:sp>
      <p:sp>
        <p:nvSpPr>
          <p:cNvPr id="6" name="Text 4"/>
          <p:cNvSpPr txBox="1"/>
          <p:nvPr/>
        </p:nvSpPr>
        <p:spPr>
          <a:xfrm>
            <a:off x="3474720" y="4983480"/>
            <a:ext cx="2468880" cy="548640"/>
          </a:xfrm>
          <a:prstGeom prst="rect">
            <a:avLst/>
          </a:prstGeom>
          <a:noFill/>
          <a:ln/>
        </p:spPr>
        <p:txBody>
          <a:bodyPr wrap="square" lIns="0" tIns="0" rIns="0" bIns="0" rtlCol="0" anchor="ctr"/>
          <a:lstStyle/>
          <a:p>
            <a:pPr indent="0" marL="0">
              <a:buNone/>
            </a:pPr>
            <a:r>
              <a:rPr lang="en-US" sz="3200" b="1" dirty="0">
                <a:solidFill>
                  <a:srgbClr val="02C39A"/>
                </a:solidFill>
              </a:rPr>
              <a:t>4,1T</a:t>
            </a:r>
            <a:endParaRPr lang="en-US" sz="3200" dirty="0"/>
          </a:p>
        </p:txBody>
      </p:sp>
      <p:sp>
        <p:nvSpPr>
          <p:cNvPr id="7" name="Text 5"/>
          <p:cNvSpPr txBox="1"/>
          <p:nvPr/>
        </p:nvSpPr>
        <p:spPr>
          <a:xfrm>
            <a:off x="3474720" y="5532120"/>
            <a:ext cx="2468880" cy="320040"/>
          </a:xfrm>
          <a:prstGeom prst="rect">
            <a:avLst/>
          </a:prstGeom>
          <a:noFill/>
          <a:ln/>
        </p:spPr>
        <p:txBody>
          <a:bodyPr wrap="square" lIns="0" tIns="0" rIns="0" bIns="0" rtlCol="0" anchor="ctr"/>
          <a:lstStyle/>
          <a:p>
            <a:pPr indent="0" marL="0">
              <a:buNone/>
            </a:pPr>
            <a:r>
              <a:rPr lang="en-US" sz="1200" dirty="0">
                <a:solidFill>
                  <a:srgbClr val="AEB9C0"/>
                </a:solidFill>
              </a:rPr>
              <a:t>token pre-training</a:t>
            </a:r>
            <a:endParaRPr lang="en-US" sz="1200" dirty="0"/>
          </a:p>
        </p:txBody>
      </p:sp>
      <p:sp>
        <p:nvSpPr>
          <p:cNvPr id="8" name="Text 6"/>
          <p:cNvSpPr txBox="1"/>
          <p:nvPr/>
        </p:nvSpPr>
        <p:spPr>
          <a:xfrm>
            <a:off x="6217920" y="4983480"/>
            <a:ext cx="2468880" cy="548640"/>
          </a:xfrm>
          <a:prstGeom prst="rect">
            <a:avLst/>
          </a:prstGeom>
          <a:noFill/>
          <a:ln/>
        </p:spPr>
        <p:txBody>
          <a:bodyPr wrap="square" lIns="0" tIns="0" rIns="0" bIns="0" rtlCol="0" anchor="ctr"/>
          <a:lstStyle/>
          <a:p>
            <a:pPr indent="0" marL="0">
              <a:buNone/>
            </a:pPr>
            <a:r>
              <a:rPr lang="en-US" sz="3200" b="1" dirty="0">
                <a:solidFill>
                  <a:srgbClr val="02C39A"/>
                </a:solidFill>
              </a:rPr>
              <a:t>32k</a:t>
            </a:r>
            <a:endParaRPr lang="en-US" sz="3200" dirty="0"/>
          </a:p>
        </p:txBody>
      </p:sp>
      <p:sp>
        <p:nvSpPr>
          <p:cNvPr id="9" name="Text 7"/>
          <p:cNvSpPr txBox="1"/>
          <p:nvPr/>
        </p:nvSpPr>
        <p:spPr>
          <a:xfrm>
            <a:off x="6217920" y="5532120"/>
            <a:ext cx="2468880" cy="320040"/>
          </a:xfrm>
          <a:prstGeom prst="rect">
            <a:avLst/>
          </a:prstGeom>
          <a:noFill/>
          <a:ln/>
        </p:spPr>
        <p:txBody>
          <a:bodyPr wrap="square" lIns="0" tIns="0" rIns="0" bIns="0" rtlCol="0" anchor="ctr"/>
          <a:lstStyle/>
          <a:p>
            <a:pPr indent="0" marL="0">
              <a:buNone/>
            </a:pPr>
            <a:r>
              <a:rPr lang="en-US" sz="1200" dirty="0">
                <a:solidFill>
                  <a:srgbClr val="AEB9C0"/>
                </a:solidFill>
              </a:rPr>
              <a:t>context</a:t>
            </a:r>
            <a:endParaRPr lang="en-US" sz="1200" dirty="0"/>
          </a:p>
        </p:txBody>
      </p:sp>
      <p:sp>
        <p:nvSpPr>
          <p:cNvPr id="10" name="Text 8"/>
          <p:cNvSpPr txBox="1"/>
          <p:nvPr/>
        </p:nvSpPr>
        <p:spPr>
          <a:xfrm>
            <a:off x="8961120" y="4983480"/>
            <a:ext cx="2468880" cy="548640"/>
          </a:xfrm>
          <a:prstGeom prst="rect">
            <a:avLst/>
          </a:prstGeom>
          <a:noFill/>
          <a:ln/>
        </p:spPr>
        <p:txBody>
          <a:bodyPr wrap="square" lIns="0" tIns="0" rIns="0" bIns="0" rtlCol="0" anchor="ctr"/>
          <a:lstStyle/>
          <a:p>
            <a:pPr indent="0" marL="0">
              <a:buNone/>
            </a:pPr>
            <a:r>
              <a:rPr lang="en-US" sz="3200" b="1" dirty="0">
                <a:solidFill>
                  <a:srgbClr val="02C39A"/>
                </a:solidFill>
              </a:rPr>
              <a:t>0,67B</a:t>
            </a:r>
            <a:endParaRPr lang="en-US" sz="3200" dirty="0"/>
          </a:p>
        </p:txBody>
      </p:sp>
      <p:sp>
        <p:nvSpPr>
          <p:cNvPr id="11" name="Text 9"/>
          <p:cNvSpPr txBox="1"/>
          <p:nvPr/>
        </p:nvSpPr>
        <p:spPr>
          <a:xfrm>
            <a:off x="8961120" y="5532120"/>
            <a:ext cx="2468880" cy="320040"/>
          </a:xfrm>
          <a:prstGeom prst="rect">
            <a:avLst/>
          </a:prstGeom>
          <a:noFill/>
          <a:ln/>
        </p:spPr>
        <p:txBody>
          <a:bodyPr wrap="square" lIns="0" tIns="0" rIns="0" bIns="0" rtlCol="0" anchor="ctr"/>
          <a:lstStyle/>
          <a:p>
            <a:pPr indent="0" marL="0">
              <a:buNone/>
            </a:pPr>
            <a:r>
              <a:rPr lang="en-US" sz="1200" dirty="0">
                <a:solidFill>
                  <a:srgbClr val="AEB9C0"/>
                </a:solidFill>
              </a:rPr>
              <a:t>vision encoder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Năm ý chính</a:t>
            </a:r>
            <a:endParaRPr lang="en-US" sz="3200" dirty="0"/>
          </a:p>
        </p:txBody>
      </p:sp>
      <p:sp>
        <p:nvSpPr>
          <p:cNvPr id="3" name="Shape 1"/>
          <p:cNvSpPr/>
          <p:nvPr/>
        </p:nvSpPr>
        <p:spPr>
          <a:xfrm>
            <a:off x="548640" y="1463040"/>
            <a:ext cx="457200" cy="457200"/>
          </a:xfrm>
          <a:prstGeom prst="ellipse">
            <a:avLst/>
          </a:prstGeom>
          <a:solidFill>
            <a:srgbClr val="02C39A"/>
          </a:solidFill>
          <a:ln/>
        </p:spPr>
      </p:sp>
      <p:sp>
        <p:nvSpPr>
          <p:cNvPr id="4" name="Text 2"/>
          <p:cNvSpPr txBox="1"/>
          <p:nvPr/>
        </p:nvSpPr>
        <p:spPr>
          <a:xfrm>
            <a:off x="548640" y="14630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188720" y="1417320"/>
            <a:ext cx="10424160" cy="310896"/>
          </a:xfrm>
          <a:prstGeom prst="rect">
            <a:avLst/>
          </a:prstGeom>
          <a:noFill/>
          <a:ln/>
        </p:spPr>
        <p:txBody>
          <a:bodyPr wrap="square" lIns="0" tIns="0" rIns="0" bIns="0" rtlCol="0" anchor="ctr"/>
          <a:lstStyle/>
          <a:p>
            <a:pPr indent="0" marL="0">
              <a:buNone/>
            </a:pPr>
            <a:r>
              <a:rPr lang="en-US" sz="1600" b="1" dirty="0">
                <a:solidFill>
                  <a:srgbClr val="1A1F24"/>
                </a:solidFill>
              </a:rPr>
              <a:t>Vai trò</a:t>
            </a:r>
            <a:endParaRPr lang="en-US" sz="1600" dirty="0"/>
          </a:p>
        </p:txBody>
      </p:sp>
      <p:sp>
        <p:nvSpPr>
          <p:cNvPr id="6" name="Text 4"/>
          <p:cNvSpPr txBox="1"/>
          <p:nvPr/>
        </p:nvSpPr>
        <p:spPr>
          <a:xfrm>
            <a:off x="1188720" y="1746504"/>
            <a:ext cx="10424160" cy="502920"/>
          </a:xfrm>
          <a:prstGeom prst="rect">
            <a:avLst/>
          </a:prstGeom>
          <a:noFill/>
          <a:ln/>
        </p:spPr>
        <p:txBody>
          <a:bodyPr wrap="square" lIns="0" tIns="0" rIns="0" bIns="0" rtlCol="0" anchor="t"/>
          <a:lstStyle/>
          <a:p>
            <a:pPr indent="0" marL="0">
              <a:lnSpc>
                <a:spcPct val="115000"/>
              </a:lnSpc>
              <a:buNone/>
            </a:pPr>
            <a:r>
              <a:rPr lang="en-US" sz="1400" dirty="0">
                <a:solidFill>
                  <a:srgbClr val="5F7079"/>
                </a:solidFill>
              </a:rPr>
              <a:t>VLM nhận top-K frame đã được retrieval lọc, không nhận cả video. Nó là bước trả lời, không phải bước tìm.</a:t>
            </a:r>
            <a:endParaRPr lang="en-US" sz="1400" dirty="0"/>
          </a:p>
        </p:txBody>
      </p:sp>
      <p:sp>
        <p:nvSpPr>
          <p:cNvPr id="7" name="Shape 5"/>
          <p:cNvSpPr/>
          <p:nvPr/>
        </p:nvSpPr>
        <p:spPr>
          <a:xfrm>
            <a:off x="548640" y="2423160"/>
            <a:ext cx="457200" cy="457200"/>
          </a:xfrm>
          <a:prstGeom prst="ellipse">
            <a:avLst/>
          </a:prstGeom>
          <a:solidFill>
            <a:srgbClr val="02C39A"/>
          </a:solidFill>
          <a:ln/>
        </p:spPr>
      </p:sp>
      <p:sp>
        <p:nvSpPr>
          <p:cNvPr id="8" name="Text 6"/>
          <p:cNvSpPr txBox="1"/>
          <p:nvPr/>
        </p:nvSpPr>
        <p:spPr>
          <a:xfrm>
            <a:off x="548640" y="24231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188720" y="2377440"/>
            <a:ext cx="10424160" cy="310896"/>
          </a:xfrm>
          <a:prstGeom prst="rect">
            <a:avLst/>
          </a:prstGeom>
          <a:noFill/>
          <a:ln/>
        </p:spPr>
        <p:txBody>
          <a:bodyPr wrap="square" lIns="0" tIns="0" rIns="0" bIns="0" rtlCol="0" anchor="ctr"/>
          <a:lstStyle/>
          <a:p>
            <a:pPr indent="0" marL="0">
              <a:buNone/>
            </a:pPr>
            <a:r>
              <a:rPr lang="en-US" sz="1600" b="1" dirty="0">
                <a:solidFill>
                  <a:srgbClr val="1A1F24"/>
                </a:solidFill>
              </a:rPr>
              <a:t>Tại sao cần nó</a:t>
            </a:r>
            <a:endParaRPr lang="en-US" sz="1600" dirty="0"/>
          </a:p>
        </p:txBody>
      </p:sp>
      <p:sp>
        <p:nvSpPr>
          <p:cNvPr id="10" name="Text 8"/>
          <p:cNvSpPr txBox="1"/>
          <p:nvPr/>
        </p:nvSpPr>
        <p:spPr>
          <a:xfrm>
            <a:off x="1188720" y="2706624"/>
            <a:ext cx="10424160" cy="502920"/>
          </a:xfrm>
          <a:prstGeom prst="rect">
            <a:avLst/>
          </a:prstGeom>
          <a:noFill/>
          <a:ln/>
        </p:spPr>
        <p:txBody>
          <a:bodyPr wrap="square" lIns="0" tIns="0" rIns="0" bIns="0" rtlCol="0" anchor="t"/>
          <a:lstStyle/>
          <a:p>
            <a:pPr indent="0" marL="0">
              <a:lnSpc>
                <a:spcPct val="115000"/>
              </a:lnSpc>
              <a:buNone/>
            </a:pPr>
            <a:r>
              <a:rPr lang="en-US" sz="1400" dirty="0">
                <a:solidFill>
                  <a:srgbClr val="5F7079"/>
                </a:solidFill>
              </a:rPr>
              <a:t>CLIP/OCR/ASR cho similarity score, không cho suy luận. Câu hỏi “ai làm gì trước/sau”, “vì sao” cần reasoning đa frame.</a:t>
            </a:r>
            <a:endParaRPr lang="en-US" sz="1400" dirty="0"/>
          </a:p>
        </p:txBody>
      </p:sp>
      <p:sp>
        <p:nvSpPr>
          <p:cNvPr id="11" name="Shape 9"/>
          <p:cNvSpPr/>
          <p:nvPr/>
        </p:nvSpPr>
        <p:spPr>
          <a:xfrm>
            <a:off x="548640" y="3383280"/>
            <a:ext cx="457200" cy="457200"/>
          </a:xfrm>
          <a:prstGeom prst="ellipse">
            <a:avLst/>
          </a:prstGeom>
          <a:solidFill>
            <a:srgbClr val="02C39A"/>
          </a:solidFill>
          <a:ln/>
        </p:spPr>
      </p:sp>
      <p:sp>
        <p:nvSpPr>
          <p:cNvPr id="12" name="Text 10"/>
          <p:cNvSpPr txBox="1"/>
          <p:nvPr/>
        </p:nvSpPr>
        <p:spPr>
          <a:xfrm>
            <a:off x="548640" y="33832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11"/>
          <p:cNvSpPr txBox="1"/>
          <p:nvPr/>
        </p:nvSpPr>
        <p:spPr>
          <a:xfrm>
            <a:off x="1188720" y="3337560"/>
            <a:ext cx="10424160" cy="310896"/>
          </a:xfrm>
          <a:prstGeom prst="rect">
            <a:avLst/>
          </a:prstGeom>
          <a:noFill/>
          <a:ln/>
        </p:spPr>
        <p:txBody>
          <a:bodyPr wrap="square" lIns="0" tIns="0" rIns="0" bIns="0" rtlCol="0" anchor="ctr"/>
          <a:lstStyle/>
          <a:p>
            <a:pPr indent="0" marL="0">
              <a:buNone/>
            </a:pPr>
            <a:r>
              <a:rPr lang="en-US" sz="1600" b="1" dirty="0">
                <a:solidFill>
                  <a:srgbClr val="1A1F24"/>
                </a:solidFill>
              </a:rPr>
              <a:t>Input</a:t>
            </a:r>
            <a:endParaRPr lang="en-US" sz="1600" dirty="0"/>
          </a:p>
        </p:txBody>
      </p:sp>
      <p:sp>
        <p:nvSpPr>
          <p:cNvPr id="14" name="Text 12"/>
          <p:cNvSpPr txBox="1"/>
          <p:nvPr/>
        </p:nvSpPr>
        <p:spPr>
          <a:xfrm>
            <a:off x="1188720" y="3666744"/>
            <a:ext cx="10424160" cy="502920"/>
          </a:xfrm>
          <a:prstGeom prst="rect">
            <a:avLst/>
          </a:prstGeom>
          <a:noFill/>
          <a:ln/>
        </p:spPr>
        <p:txBody>
          <a:bodyPr wrap="square" lIns="0" tIns="0" rIns="0" bIns="0" rtlCol="0" anchor="t"/>
          <a:lstStyle/>
          <a:p>
            <a:pPr indent="0" marL="0">
              <a:lnSpc>
                <a:spcPct val="115000"/>
              </a:lnSpc>
              <a:buNone/>
            </a:pPr>
            <a:r>
              <a:rPr lang="en-US" sz="1400" dirty="0">
                <a:solidFill>
                  <a:srgbClr val="5F7079"/>
                </a:solidFill>
              </a:rPr>
              <a:t>question + top-K frame + OCR text + ASR transcript, gói trong một prompt có cấu trúc, mỗi frame kèm timestamp.</a:t>
            </a:r>
            <a:endParaRPr lang="en-US" sz="1400" dirty="0"/>
          </a:p>
        </p:txBody>
      </p:sp>
      <p:sp>
        <p:nvSpPr>
          <p:cNvPr id="15" name="Shape 13"/>
          <p:cNvSpPr/>
          <p:nvPr/>
        </p:nvSpPr>
        <p:spPr>
          <a:xfrm>
            <a:off x="548640" y="4343400"/>
            <a:ext cx="457200" cy="457200"/>
          </a:xfrm>
          <a:prstGeom prst="ellipse">
            <a:avLst/>
          </a:prstGeom>
          <a:solidFill>
            <a:srgbClr val="02C39A"/>
          </a:solidFill>
          <a:ln/>
        </p:spPr>
      </p:sp>
      <p:sp>
        <p:nvSpPr>
          <p:cNvPr id="16" name="Text 14"/>
          <p:cNvSpPr txBox="1"/>
          <p:nvPr/>
        </p:nvSpPr>
        <p:spPr>
          <a:xfrm>
            <a:off x="548640" y="43434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188720" y="4297680"/>
            <a:ext cx="10424160" cy="310896"/>
          </a:xfrm>
          <a:prstGeom prst="rect">
            <a:avLst/>
          </a:prstGeom>
          <a:noFill/>
          <a:ln/>
        </p:spPr>
        <p:txBody>
          <a:bodyPr wrap="square" lIns="0" tIns="0" rIns="0" bIns="0" rtlCol="0" anchor="ctr"/>
          <a:lstStyle/>
          <a:p>
            <a:pPr indent="0" marL="0">
              <a:buNone/>
            </a:pPr>
            <a:r>
              <a:rPr lang="en-US" sz="1600" b="1" dirty="0">
                <a:solidFill>
                  <a:srgbClr val="1A1F24"/>
                </a:solidFill>
              </a:rPr>
              <a:t>Model</a:t>
            </a:r>
            <a:endParaRPr lang="en-US" sz="1600" dirty="0"/>
          </a:p>
        </p:txBody>
      </p:sp>
      <p:sp>
        <p:nvSpPr>
          <p:cNvPr id="18" name="Text 16"/>
          <p:cNvSpPr txBox="1"/>
          <p:nvPr/>
        </p:nvSpPr>
        <p:spPr>
          <a:xfrm>
            <a:off x="1188720" y="4626864"/>
            <a:ext cx="10424160" cy="502920"/>
          </a:xfrm>
          <a:prstGeom prst="rect">
            <a:avLst/>
          </a:prstGeom>
          <a:noFill/>
          <a:ln/>
        </p:spPr>
        <p:txBody>
          <a:bodyPr wrap="square" lIns="0" tIns="0" rIns="0" bIns="0" rtlCol="0" anchor="t"/>
          <a:lstStyle/>
          <a:p>
            <a:pPr indent="0" marL="0">
              <a:lnSpc>
                <a:spcPct val="115000"/>
              </a:lnSpc>
              <a:buNone/>
            </a:pPr>
            <a:r>
              <a:rPr lang="en-US" sz="1400" dirty="0">
                <a:solidFill>
                  <a:srgbClr val="5F7079"/>
                </a:solidFill>
              </a:rPr>
              <a:t>Qwen2.5-VL-3B: native dynamic resolution, M-RoPE theo thời gian tuyệt đối, chạy được trên một GPU 12 GB.</a:t>
            </a:r>
            <a:endParaRPr lang="en-US" sz="1400" dirty="0"/>
          </a:p>
        </p:txBody>
      </p:sp>
      <p:sp>
        <p:nvSpPr>
          <p:cNvPr id="19" name="Shape 17"/>
          <p:cNvSpPr/>
          <p:nvPr/>
        </p:nvSpPr>
        <p:spPr>
          <a:xfrm>
            <a:off x="548640" y="5303520"/>
            <a:ext cx="457200" cy="457200"/>
          </a:xfrm>
          <a:prstGeom prst="ellipse">
            <a:avLst/>
          </a:prstGeom>
          <a:solidFill>
            <a:srgbClr val="028090"/>
          </a:solidFill>
          <a:ln/>
        </p:spPr>
      </p:sp>
      <p:sp>
        <p:nvSpPr>
          <p:cNvPr id="20" name="Text 18"/>
          <p:cNvSpPr txBox="1"/>
          <p:nvPr/>
        </p:nvSpPr>
        <p:spPr>
          <a:xfrm>
            <a:off x="548640" y="5303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1" name="Text 19"/>
          <p:cNvSpPr txBox="1"/>
          <p:nvPr/>
        </p:nvSpPr>
        <p:spPr>
          <a:xfrm>
            <a:off x="1188720" y="5257800"/>
            <a:ext cx="10424160" cy="310896"/>
          </a:xfrm>
          <a:prstGeom prst="rect">
            <a:avLst/>
          </a:prstGeom>
          <a:noFill/>
          <a:ln/>
        </p:spPr>
        <p:txBody>
          <a:bodyPr wrap="square" lIns="0" tIns="0" rIns="0" bIns="0" rtlCol="0" anchor="ctr"/>
          <a:lstStyle/>
          <a:p>
            <a:pPr indent="0" marL="0">
              <a:buNone/>
            </a:pPr>
            <a:r>
              <a:rPr lang="en-US" sz="1600" b="1" dirty="0">
                <a:solidFill>
                  <a:srgbClr val="1A1F24"/>
                </a:solidFill>
              </a:rPr>
              <a:t>Đánh giá</a:t>
            </a:r>
            <a:endParaRPr lang="en-US" sz="1600" dirty="0"/>
          </a:p>
        </p:txBody>
      </p:sp>
      <p:sp>
        <p:nvSpPr>
          <p:cNvPr id="22" name="Text 20"/>
          <p:cNvSpPr txBox="1"/>
          <p:nvPr/>
        </p:nvSpPr>
        <p:spPr>
          <a:xfrm>
            <a:off x="1188720" y="5586984"/>
            <a:ext cx="10424160" cy="502920"/>
          </a:xfrm>
          <a:prstGeom prst="rect">
            <a:avLst/>
          </a:prstGeom>
          <a:noFill/>
          <a:ln/>
        </p:spPr>
        <p:txBody>
          <a:bodyPr wrap="square" lIns="0" tIns="0" rIns="0" bIns="0" rtlCol="0" anchor="t"/>
          <a:lstStyle/>
          <a:p>
            <a:pPr indent="0" marL="0">
              <a:lnSpc>
                <a:spcPct val="115000"/>
              </a:lnSpc>
              <a:buNone/>
            </a:pPr>
            <a:r>
              <a:rPr lang="en-US" sz="1400" dirty="0">
                <a:solidFill>
                  <a:srgbClr val="5F7079"/>
                </a:solidFill>
              </a:rPr>
              <a:t>Không chỉ accuracy cuối: tách lỗi retrieval khỏi lỗi reasoning, ablation từng nguồn input, đo oracle upper bound.</a:t>
            </a:r>
            <a:endParaRPr lang="en-US" sz="14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VLM nhận candidate, không nhận cả video</a:t>
            </a:r>
            <a:endParaRPr lang="en-US" sz="3200" dirty="0"/>
          </a:p>
        </p:txBody>
      </p:sp>
      <p:sp>
        <p:nvSpPr>
          <p:cNvPr id="3" name="stage-0"/>
          <p:cNvSpPr/>
          <p:nvPr/>
        </p:nvSpPr>
        <p:spPr>
          <a:xfrm>
            <a:off x="548640" y="1874520"/>
            <a:ext cx="1920240" cy="1463040"/>
          </a:xfrm>
          <a:prstGeom prst="roundRect">
            <a:avLst>
              <a:gd name="adj" fmla="val 5000"/>
            </a:avLst>
          </a:prstGeom>
          <a:solidFill>
            <a:srgbClr val="F1F4F5"/>
          </a:solidFill>
          <a:ln w="9525">
            <a:solidFill>
              <a:srgbClr val="F1F4F5"/>
            </a:solidFill>
            <a:prstDash val="solid"/>
          </a:ln>
        </p:spPr>
      </p:sp>
      <p:sp>
        <p:nvSpPr>
          <p:cNvPr id="4" name="Text 2"/>
          <p:cNvSpPr txBox="1"/>
          <p:nvPr/>
        </p:nvSpPr>
        <p:spPr>
          <a:xfrm>
            <a:off x="685800" y="2011680"/>
            <a:ext cx="1645920" cy="457200"/>
          </a:xfrm>
          <a:prstGeom prst="rect">
            <a:avLst/>
          </a:prstGeom>
          <a:noFill/>
          <a:ln/>
        </p:spPr>
        <p:txBody>
          <a:bodyPr wrap="square" lIns="0" tIns="0" rIns="0" bIns="0" rtlCol="0" anchor="t"/>
          <a:lstStyle/>
          <a:p>
            <a:pPr indent="0" marL="0">
              <a:buNone/>
            </a:pPr>
            <a:r>
              <a:rPr lang="en-US" sz="1300" b="1" dirty="0">
                <a:solidFill>
                  <a:srgbClr val="1A1F24"/>
                </a:solidFill>
              </a:rPr>
              <a:t>Video nguồn</a:t>
            </a:r>
            <a:endParaRPr lang="en-US" sz="1300" dirty="0"/>
          </a:p>
        </p:txBody>
      </p:sp>
      <p:sp>
        <p:nvSpPr>
          <p:cNvPr id="5" name="Text 3"/>
          <p:cNvSpPr txBox="1"/>
          <p:nvPr/>
        </p:nvSpPr>
        <p:spPr>
          <a:xfrm>
            <a:off x="685800" y="2487168"/>
            <a:ext cx="1645920" cy="731520"/>
          </a:xfrm>
          <a:prstGeom prst="rect">
            <a:avLst/>
          </a:prstGeom>
          <a:noFill/>
          <a:ln/>
        </p:spPr>
        <p:txBody>
          <a:bodyPr wrap="square" lIns="0" tIns="0" rIns="0" bIns="0" rtlCol="0" anchor="t"/>
          <a:lstStyle/>
          <a:p>
            <a:pPr indent="0" marL="0">
              <a:buNone/>
            </a:pPr>
            <a:r>
              <a:rPr lang="en-US" sz="1100" dirty="0">
                <a:solidFill>
                  <a:srgbClr val="5F7079"/>
                </a:solidFill>
              </a:rPr>
              <a:t>~600 frame ở 1 FPS</a:t>
            </a:r>
            <a:endParaRPr lang="en-US" sz="1100" dirty="0"/>
          </a:p>
        </p:txBody>
      </p:sp>
      <p:sp>
        <p:nvSpPr>
          <p:cNvPr id="6" name="Shape 4"/>
          <p:cNvSpPr/>
          <p:nvPr/>
        </p:nvSpPr>
        <p:spPr>
          <a:xfrm>
            <a:off x="2514600" y="2606040"/>
            <a:ext cx="274320" cy="0"/>
          </a:xfrm>
          <a:prstGeom prst="line">
            <a:avLst/>
          </a:prstGeom>
          <a:noFill/>
          <a:ln w="19050">
            <a:solidFill>
              <a:srgbClr val="9AA7B0"/>
            </a:solidFill>
            <a:prstDash val="solid"/>
            <a:tailEnd type="triangle"/>
          </a:ln>
        </p:spPr>
      </p:sp>
      <p:sp>
        <p:nvSpPr>
          <p:cNvPr id="7" name="stage-1"/>
          <p:cNvSpPr/>
          <p:nvPr/>
        </p:nvSpPr>
        <p:spPr>
          <a:xfrm>
            <a:off x="2834640" y="1874520"/>
            <a:ext cx="1920240" cy="1463040"/>
          </a:xfrm>
          <a:prstGeom prst="roundRect">
            <a:avLst>
              <a:gd name="adj" fmla="val 5000"/>
            </a:avLst>
          </a:prstGeom>
          <a:solidFill>
            <a:srgbClr val="F1F4F5"/>
          </a:solidFill>
          <a:ln w="9525">
            <a:solidFill>
              <a:srgbClr val="F1F4F5"/>
            </a:solidFill>
            <a:prstDash val="solid"/>
          </a:ln>
        </p:spPr>
      </p:sp>
      <p:sp>
        <p:nvSpPr>
          <p:cNvPr id="8" name="Text 6"/>
          <p:cNvSpPr txBox="1"/>
          <p:nvPr/>
        </p:nvSpPr>
        <p:spPr>
          <a:xfrm>
            <a:off x="2971800" y="2011680"/>
            <a:ext cx="1645920" cy="457200"/>
          </a:xfrm>
          <a:prstGeom prst="rect">
            <a:avLst/>
          </a:prstGeom>
          <a:noFill/>
          <a:ln/>
        </p:spPr>
        <p:txBody>
          <a:bodyPr wrap="square" lIns="0" tIns="0" rIns="0" bIns="0" rtlCol="0" anchor="t"/>
          <a:lstStyle/>
          <a:p>
            <a:pPr indent="0" marL="0">
              <a:buNone/>
            </a:pPr>
            <a:r>
              <a:rPr lang="en-US" sz="1300" b="1" dirty="0">
                <a:solidFill>
                  <a:srgbClr val="1A1F24"/>
                </a:solidFill>
              </a:rPr>
              <a:t>Retrieval</a:t>
            </a:r>
            <a:endParaRPr lang="en-US" sz="1300" dirty="0"/>
          </a:p>
        </p:txBody>
      </p:sp>
      <p:sp>
        <p:nvSpPr>
          <p:cNvPr id="9" name="Text 7"/>
          <p:cNvSpPr txBox="1"/>
          <p:nvPr/>
        </p:nvSpPr>
        <p:spPr>
          <a:xfrm>
            <a:off x="2971800" y="2487168"/>
            <a:ext cx="1645920" cy="731520"/>
          </a:xfrm>
          <a:prstGeom prst="rect">
            <a:avLst/>
          </a:prstGeom>
          <a:noFill/>
          <a:ln/>
        </p:spPr>
        <p:txBody>
          <a:bodyPr wrap="square" lIns="0" tIns="0" rIns="0" bIns="0" rtlCol="0" anchor="t"/>
          <a:lstStyle/>
          <a:p>
            <a:pPr indent="0" marL="0">
              <a:buNone/>
            </a:pPr>
            <a:r>
              <a:rPr lang="en-US" sz="1100" dirty="0">
                <a:solidFill>
                  <a:srgbClr val="5F7079"/>
                </a:solidFill>
              </a:rPr>
              <a:t>CLIP · OCR · ASR index</a:t>
            </a:r>
            <a:endParaRPr lang="en-US" sz="1100" dirty="0"/>
          </a:p>
        </p:txBody>
      </p:sp>
      <p:sp>
        <p:nvSpPr>
          <p:cNvPr id="10" name="Shape 8"/>
          <p:cNvSpPr/>
          <p:nvPr/>
        </p:nvSpPr>
        <p:spPr>
          <a:xfrm>
            <a:off x="4800600" y="2606040"/>
            <a:ext cx="274320" cy="0"/>
          </a:xfrm>
          <a:prstGeom prst="line">
            <a:avLst/>
          </a:prstGeom>
          <a:noFill/>
          <a:ln w="19050">
            <a:solidFill>
              <a:srgbClr val="9AA7B0"/>
            </a:solidFill>
            <a:prstDash val="solid"/>
            <a:tailEnd type="triangle"/>
          </a:ln>
        </p:spPr>
      </p:sp>
      <p:sp>
        <p:nvSpPr>
          <p:cNvPr id="11" name="stage-2"/>
          <p:cNvSpPr/>
          <p:nvPr/>
        </p:nvSpPr>
        <p:spPr>
          <a:xfrm>
            <a:off x="5120640" y="1874520"/>
            <a:ext cx="1920240" cy="1463040"/>
          </a:xfrm>
          <a:prstGeom prst="roundRect">
            <a:avLst>
              <a:gd name="adj" fmla="val 5000"/>
            </a:avLst>
          </a:prstGeom>
          <a:solidFill>
            <a:srgbClr val="F1F4F5"/>
          </a:solidFill>
          <a:ln w="9525">
            <a:solidFill>
              <a:srgbClr val="F1F4F5"/>
            </a:solidFill>
            <a:prstDash val="solid"/>
          </a:ln>
        </p:spPr>
      </p:sp>
      <p:sp>
        <p:nvSpPr>
          <p:cNvPr id="12" name="Text 10"/>
          <p:cNvSpPr txBox="1"/>
          <p:nvPr/>
        </p:nvSpPr>
        <p:spPr>
          <a:xfrm>
            <a:off x="5257800" y="2011680"/>
            <a:ext cx="1645920" cy="457200"/>
          </a:xfrm>
          <a:prstGeom prst="rect">
            <a:avLst/>
          </a:prstGeom>
          <a:noFill/>
          <a:ln/>
        </p:spPr>
        <p:txBody>
          <a:bodyPr wrap="square" lIns="0" tIns="0" rIns="0" bIns="0" rtlCol="0" anchor="t"/>
          <a:lstStyle/>
          <a:p>
            <a:pPr indent="0" marL="0">
              <a:buNone/>
            </a:pPr>
            <a:r>
              <a:rPr lang="en-US" sz="1300" b="1" dirty="0">
                <a:solidFill>
                  <a:srgbClr val="1A1F24"/>
                </a:solidFill>
              </a:rPr>
              <a:t>Top-8 candidate</a:t>
            </a:r>
            <a:endParaRPr lang="en-US" sz="1300" dirty="0"/>
          </a:p>
        </p:txBody>
      </p:sp>
      <p:sp>
        <p:nvSpPr>
          <p:cNvPr id="13" name="Text 11"/>
          <p:cNvSpPr txBox="1"/>
          <p:nvPr/>
        </p:nvSpPr>
        <p:spPr>
          <a:xfrm>
            <a:off x="5257800" y="2487168"/>
            <a:ext cx="1645920" cy="731520"/>
          </a:xfrm>
          <a:prstGeom prst="rect">
            <a:avLst/>
          </a:prstGeom>
          <a:noFill/>
          <a:ln/>
        </p:spPr>
        <p:txBody>
          <a:bodyPr wrap="square" lIns="0" tIns="0" rIns="0" bIns="0" rtlCol="0" anchor="t"/>
          <a:lstStyle/>
          <a:p>
            <a:pPr indent="0" marL="0">
              <a:buNone/>
            </a:pPr>
            <a:r>
              <a:rPr lang="en-US" sz="1100" dirty="0">
                <a:solidFill>
                  <a:srgbClr val="5F7079"/>
                </a:solidFill>
              </a:rPr>
              <a:t>frame + OCR + ASR,</a:t>
            </a:r>
            <a:endParaRPr lang="en-US" sz="1100" dirty="0"/>
          </a:p>
          <a:p>
            <a:pPr indent="0" marL="0">
              <a:buNone/>
            </a:pPr>
            <a:r>
              <a:rPr lang="en-US" sz="1100" dirty="0">
                <a:solidFill>
                  <a:srgbClr val="5F7079"/>
                </a:solidFill>
              </a:rPr>
              <a:t>có timestamp</a:t>
            </a:r>
            <a:endParaRPr lang="en-US" sz="1100" dirty="0"/>
          </a:p>
        </p:txBody>
      </p:sp>
      <p:sp>
        <p:nvSpPr>
          <p:cNvPr id="14" name="Shape 12"/>
          <p:cNvSpPr/>
          <p:nvPr/>
        </p:nvSpPr>
        <p:spPr>
          <a:xfrm>
            <a:off x="7086600" y="2606040"/>
            <a:ext cx="274320" cy="0"/>
          </a:xfrm>
          <a:prstGeom prst="line">
            <a:avLst/>
          </a:prstGeom>
          <a:noFill/>
          <a:ln w="19050">
            <a:solidFill>
              <a:srgbClr val="9AA7B0"/>
            </a:solidFill>
            <a:prstDash val="solid"/>
            <a:tailEnd type="triangle"/>
          </a:ln>
        </p:spPr>
      </p:sp>
      <p:sp>
        <p:nvSpPr>
          <p:cNvPr id="15" name="stage-3"/>
          <p:cNvSpPr/>
          <p:nvPr/>
        </p:nvSpPr>
        <p:spPr>
          <a:xfrm>
            <a:off x="7406640" y="1874520"/>
            <a:ext cx="1920240" cy="1463040"/>
          </a:xfrm>
          <a:prstGeom prst="roundRect">
            <a:avLst>
              <a:gd name="adj" fmla="val 5000"/>
            </a:avLst>
          </a:prstGeom>
          <a:solidFill>
            <a:srgbClr val="E3F8F2"/>
          </a:solidFill>
          <a:ln w="15875">
            <a:solidFill>
              <a:srgbClr val="02C39A"/>
            </a:solidFill>
            <a:prstDash val="solid"/>
          </a:ln>
        </p:spPr>
      </p:sp>
      <p:sp>
        <p:nvSpPr>
          <p:cNvPr id="16" name="Text 14"/>
          <p:cNvSpPr txBox="1"/>
          <p:nvPr/>
        </p:nvSpPr>
        <p:spPr>
          <a:xfrm>
            <a:off x="7543800" y="2011680"/>
            <a:ext cx="1645920" cy="457200"/>
          </a:xfrm>
          <a:prstGeom prst="rect">
            <a:avLst/>
          </a:prstGeom>
          <a:noFill/>
          <a:ln/>
        </p:spPr>
        <p:txBody>
          <a:bodyPr wrap="square" lIns="0" tIns="0" rIns="0" bIns="0" rtlCol="0" anchor="t"/>
          <a:lstStyle/>
          <a:p>
            <a:pPr indent="0" marL="0">
              <a:buNone/>
            </a:pPr>
            <a:r>
              <a:rPr lang="en-US" sz="1300" b="1" dirty="0">
                <a:solidFill>
                  <a:srgbClr val="1A1F24"/>
                </a:solidFill>
              </a:rPr>
              <a:t>Qwen2.5-VL-3B</a:t>
            </a:r>
            <a:endParaRPr lang="en-US" sz="1300" dirty="0"/>
          </a:p>
        </p:txBody>
      </p:sp>
      <p:sp>
        <p:nvSpPr>
          <p:cNvPr id="17" name="Text 15"/>
          <p:cNvSpPr txBox="1"/>
          <p:nvPr/>
        </p:nvSpPr>
        <p:spPr>
          <a:xfrm>
            <a:off x="7543800" y="2487168"/>
            <a:ext cx="1645920" cy="731520"/>
          </a:xfrm>
          <a:prstGeom prst="rect">
            <a:avLst/>
          </a:prstGeom>
          <a:noFill/>
          <a:ln/>
        </p:spPr>
        <p:txBody>
          <a:bodyPr wrap="square" lIns="0" tIns="0" rIns="0" bIns="0" rtlCol="0" anchor="t"/>
          <a:lstStyle/>
          <a:p>
            <a:pPr indent="0" marL="0">
              <a:buNone/>
            </a:pPr>
            <a:r>
              <a:rPr lang="en-US" sz="1100" dirty="0">
                <a:solidFill>
                  <a:srgbClr val="5F7079"/>
                </a:solidFill>
              </a:rPr>
              <a:t>suy luận,</a:t>
            </a:r>
            <a:endParaRPr lang="en-US" sz="1100" dirty="0"/>
          </a:p>
          <a:p>
            <a:pPr indent="0" marL="0">
              <a:buNone/>
            </a:pPr>
            <a:r>
              <a:rPr lang="en-US" sz="1100" dirty="0">
                <a:solidFill>
                  <a:srgbClr val="5F7079"/>
                </a:solidFill>
              </a:rPr>
              <a:t>chọn đáp án</a:t>
            </a:r>
            <a:endParaRPr lang="en-US" sz="1100" dirty="0"/>
          </a:p>
        </p:txBody>
      </p:sp>
      <p:sp>
        <p:nvSpPr>
          <p:cNvPr id="18" name="Shape 16"/>
          <p:cNvSpPr/>
          <p:nvPr/>
        </p:nvSpPr>
        <p:spPr>
          <a:xfrm>
            <a:off x="9372600" y="2606040"/>
            <a:ext cx="274320" cy="0"/>
          </a:xfrm>
          <a:prstGeom prst="line">
            <a:avLst/>
          </a:prstGeom>
          <a:noFill/>
          <a:ln w="19050">
            <a:solidFill>
              <a:srgbClr val="9AA7B0"/>
            </a:solidFill>
            <a:prstDash val="solid"/>
            <a:tailEnd type="triangle"/>
          </a:ln>
        </p:spPr>
      </p:sp>
      <p:sp>
        <p:nvSpPr>
          <p:cNvPr id="19" name="stage-4"/>
          <p:cNvSpPr/>
          <p:nvPr/>
        </p:nvSpPr>
        <p:spPr>
          <a:xfrm>
            <a:off x="9692640" y="1874520"/>
            <a:ext cx="1920240" cy="1463040"/>
          </a:xfrm>
          <a:prstGeom prst="roundRect">
            <a:avLst>
              <a:gd name="adj" fmla="val 5000"/>
            </a:avLst>
          </a:prstGeom>
          <a:solidFill>
            <a:srgbClr val="F1F4F5"/>
          </a:solidFill>
          <a:ln w="9525">
            <a:solidFill>
              <a:srgbClr val="F1F4F5"/>
            </a:solidFill>
            <a:prstDash val="solid"/>
          </a:ln>
        </p:spPr>
      </p:sp>
      <p:sp>
        <p:nvSpPr>
          <p:cNvPr id="20" name="Text 18"/>
          <p:cNvSpPr txBox="1"/>
          <p:nvPr/>
        </p:nvSpPr>
        <p:spPr>
          <a:xfrm>
            <a:off x="9829800" y="2011680"/>
            <a:ext cx="1645920" cy="457200"/>
          </a:xfrm>
          <a:prstGeom prst="rect">
            <a:avLst/>
          </a:prstGeom>
          <a:noFill/>
          <a:ln/>
        </p:spPr>
        <p:txBody>
          <a:bodyPr wrap="square" lIns="0" tIns="0" rIns="0" bIns="0" rtlCol="0" anchor="t"/>
          <a:lstStyle/>
          <a:p>
            <a:pPr indent="0" marL="0">
              <a:buNone/>
            </a:pPr>
            <a:r>
              <a:rPr lang="en-US" sz="1300" b="1" dirty="0">
                <a:solidFill>
                  <a:srgbClr val="1A1F24"/>
                </a:solidFill>
              </a:rPr>
              <a:t>Đáp án</a:t>
            </a:r>
            <a:endParaRPr lang="en-US" sz="1300" dirty="0"/>
          </a:p>
        </p:txBody>
      </p:sp>
      <p:sp>
        <p:nvSpPr>
          <p:cNvPr id="21" name="Text 19"/>
          <p:cNvSpPr txBox="1"/>
          <p:nvPr/>
        </p:nvSpPr>
        <p:spPr>
          <a:xfrm>
            <a:off x="9829800" y="2487168"/>
            <a:ext cx="1645920" cy="731520"/>
          </a:xfrm>
          <a:prstGeom prst="rect">
            <a:avLst/>
          </a:prstGeom>
          <a:noFill/>
          <a:ln/>
        </p:spPr>
        <p:txBody>
          <a:bodyPr wrap="square" lIns="0" tIns="0" rIns="0" bIns="0" rtlCol="0" anchor="t"/>
          <a:lstStyle/>
          <a:p>
            <a:pPr indent="0" marL="0">
              <a:buNone/>
            </a:pPr>
            <a:r>
              <a:rPr lang="en-US" sz="1100" dirty="0">
                <a:solidFill>
                  <a:srgbClr val="5F7079"/>
                </a:solidFill>
              </a:rPr>
              <a:t>+ frame index đã dùng</a:t>
            </a:r>
            <a:endParaRPr lang="en-US" sz="1100" dirty="0"/>
          </a:p>
        </p:txBody>
      </p:sp>
      <p:sp>
        <p:nvSpPr>
          <p:cNvPr id="22" name="Text 20"/>
          <p:cNvSpPr txBox="1"/>
          <p:nvPr/>
        </p:nvSpPr>
        <p:spPr>
          <a:xfrm>
            <a:off x="548640" y="3520440"/>
            <a:ext cx="11064240" cy="292608"/>
          </a:xfrm>
          <a:prstGeom prst="rect">
            <a:avLst/>
          </a:prstGeom>
          <a:noFill/>
          <a:ln/>
        </p:spPr>
        <p:txBody>
          <a:bodyPr wrap="square" lIns="0" tIns="0" rIns="0" bIns="0" rtlCol="0" anchor="ctr"/>
          <a:lstStyle/>
          <a:p>
            <a:pPr indent="0" marL="0">
              <a:buNone/>
            </a:pPr>
            <a:r>
              <a:rPr lang="en-US" sz="1200" i="1" dirty="0">
                <a:solidFill>
                  <a:srgbClr val="028090"/>
                </a:solidFill>
              </a:rPr>
              <a:t>Câu hỏi đi vào cả hai bước: retrieval để tìm, VLM để trả lời</a:t>
            </a:r>
            <a:endParaRPr lang="en-US" sz="1200" dirty="0"/>
          </a:p>
        </p:txBody>
      </p:sp>
      <p:sp>
        <p:nvSpPr>
          <p:cNvPr id="23" name="stat-0"/>
          <p:cNvSpPr/>
          <p:nvPr/>
        </p:nvSpPr>
        <p:spPr>
          <a:xfrm>
            <a:off x="548640" y="4069080"/>
            <a:ext cx="3520440" cy="1325880"/>
          </a:xfrm>
          <a:prstGeom prst="roundRect">
            <a:avLst>
              <a:gd name="adj" fmla="val 5517"/>
            </a:avLst>
          </a:prstGeom>
          <a:solidFill>
            <a:srgbClr val="FFFFFF"/>
          </a:solidFill>
          <a:ln w="15875">
            <a:solidFill>
              <a:srgbClr val="DCE3E6"/>
            </a:solidFill>
            <a:prstDash val="solid"/>
          </a:ln>
        </p:spPr>
      </p:sp>
      <p:sp>
        <p:nvSpPr>
          <p:cNvPr id="24" name="Text 22"/>
          <p:cNvSpPr txBox="1"/>
          <p:nvPr/>
        </p:nvSpPr>
        <p:spPr>
          <a:xfrm>
            <a:off x="822960" y="4279392"/>
            <a:ext cx="2971800" cy="548640"/>
          </a:xfrm>
          <a:prstGeom prst="rect">
            <a:avLst/>
          </a:prstGeom>
          <a:noFill/>
          <a:ln/>
        </p:spPr>
        <p:txBody>
          <a:bodyPr wrap="square" lIns="0" tIns="0" rIns="0" bIns="0" rtlCol="0" anchor="ctr"/>
          <a:lstStyle/>
          <a:p>
            <a:pPr indent="0" marL="0">
              <a:buNone/>
            </a:pPr>
            <a:r>
              <a:rPr lang="en-US" sz="2800" b="1" dirty="0">
                <a:solidFill>
                  <a:srgbClr val="028090"/>
                </a:solidFill>
              </a:rPr>
              <a:t>600 → 8</a:t>
            </a:r>
            <a:endParaRPr lang="en-US" sz="2800" dirty="0"/>
          </a:p>
        </p:txBody>
      </p:sp>
      <p:sp>
        <p:nvSpPr>
          <p:cNvPr id="25" name="Text 23"/>
          <p:cNvSpPr txBox="1"/>
          <p:nvPr/>
        </p:nvSpPr>
        <p:spPr>
          <a:xfrm>
            <a:off x="822960" y="4864608"/>
            <a:ext cx="2971800" cy="411480"/>
          </a:xfrm>
          <a:prstGeom prst="rect">
            <a:avLst/>
          </a:prstGeom>
          <a:noFill/>
          <a:ln/>
        </p:spPr>
        <p:txBody>
          <a:bodyPr wrap="square" lIns="0" tIns="0" rIns="0" bIns="0" rtlCol="0" anchor="ctr"/>
          <a:lstStyle/>
          <a:p>
            <a:pPr indent="0" marL="0">
              <a:buNone/>
            </a:pPr>
            <a:r>
              <a:rPr lang="en-US" sz="1200" dirty="0">
                <a:solidFill>
                  <a:srgbClr val="5F7079"/>
                </a:solidFill>
              </a:rPr>
              <a:t>frame thực sự đưa vào VLM</a:t>
            </a:r>
            <a:endParaRPr lang="en-US" sz="1200" dirty="0"/>
          </a:p>
        </p:txBody>
      </p:sp>
      <p:sp>
        <p:nvSpPr>
          <p:cNvPr id="26" name="stat-1"/>
          <p:cNvSpPr/>
          <p:nvPr/>
        </p:nvSpPr>
        <p:spPr>
          <a:xfrm>
            <a:off x="4297680" y="4069080"/>
            <a:ext cx="3520440" cy="1325880"/>
          </a:xfrm>
          <a:prstGeom prst="roundRect">
            <a:avLst>
              <a:gd name="adj" fmla="val 5517"/>
            </a:avLst>
          </a:prstGeom>
          <a:solidFill>
            <a:srgbClr val="FFFFFF"/>
          </a:solidFill>
          <a:ln w="15875">
            <a:solidFill>
              <a:srgbClr val="DCE3E6"/>
            </a:solidFill>
            <a:prstDash val="solid"/>
          </a:ln>
        </p:spPr>
      </p:sp>
      <p:sp>
        <p:nvSpPr>
          <p:cNvPr id="27" name="Text 25"/>
          <p:cNvSpPr txBox="1"/>
          <p:nvPr/>
        </p:nvSpPr>
        <p:spPr>
          <a:xfrm>
            <a:off x="4572000" y="4279392"/>
            <a:ext cx="2971800" cy="548640"/>
          </a:xfrm>
          <a:prstGeom prst="rect">
            <a:avLst/>
          </a:prstGeom>
          <a:noFill/>
          <a:ln/>
        </p:spPr>
        <p:txBody>
          <a:bodyPr wrap="square" lIns="0" tIns="0" rIns="0" bIns="0" rtlCol="0" anchor="ctr"/>
          <a:lstStyle/>
          <a:p>
            <a:pPr indent="0" marL="0">
              <a:buNone/>
            </a:pPr>
            <a:r>
              <a:rPr lang="en-US" sz="2800" b="1" dirty="0">
                <a:solidFill>
                  <a:srgbClr val="028090"/>
                </a:solidFill>
              </a:rPr>
              <a:t>~380k → ~10k</a:t>
            </a:r>
            <a:endParaRPr lang="en-US" sz="2800" dirty="0"/>
          </a:p>
        </p:txBody>
      </p:sp>
      <p:sp>
        <p:nvSpPr>
          <p:cNvPr id="28" name="Text 26"/>
          <p:cNvSpPr txBox="1"/>
          <p:nvPr/>
        </p:nvSpPr>
        <p:spPr>
          <a:xfrm>
            <a:off x="4572000" y="4864608"/>
            <a:ext cx="2971800" cy="411480"/>
          </a:xfrm>
          <a:prstGeom prst="rect">
            <a:avLst/>
          </a:prstGeom>
          <a:noFill/>
          <a:ln/>
        </p:spPr>
        <p:txBody>
          <a:bodyPr wrap="square" lIns="0" tIns="0" rIns="0" bIns="0" rtlCol="0" anchor="ctr"/>
          <a:lstStyle/>
          <a:p>
            <a:pPr indent="0" marL="0">
              <a:buNone/>
            </a:pPr>
            <a:r>
              <a:rPr lang="en-US" sz="1200" dirty="0">
                <a:solidFill>
                  <a:srgbClr val="5F7079"/>
                </a:solidFill>
              </a:rPr>
              <a:t>token cho một câu hỏi</a:t>
            </a:r>
            <a:endParaRPr lang="en-US" sz="1200" dirty="0"/>
          </a:p>
        </p:txBody>
      </p:sp>
      <p:sp>
        <p:nvSpPr>
          <p:cNvPr id="29" name="stat-2"/>
          <p:cNvSpPr/>
          <p:nvPr/>
        </p:nvSpPr>
        <p:spPr>
          <a:xfrm>
            <a:off x="8046720" y="4069080"/>
            <a:ext cx="3520440" cy="1325880"/>
          </a:xfrm>
          <a:prstGeom prst="roundRect">
            <a:avLst>
              <a:gd name="adj" fmla="val 5517"/>
            </a:avLst>
          </a:prstGeom>
          <a:solidFill>
            <a:srgbClr val="FFFFFF"/>
          </a:solidFill>
          <a:ln w="15875">
            <a:solidFill>
              <a:srgbClr val="DCE3E6"/>
            </a:solidFill>
            <a:prstDash val="solid"/>
          </a:ln>
        </p:spPr>
      </p:sp>
      <p:sp>
        <p:nvSpPr>
          <p:cNvPr id="30" name="Text 28"/>
          <p:cNvSpPr txBox="1"/>
          <p:nvPr/>
        </p:nvSpPr>
        <p:spPr>
          <a:xfrm>
            <a:off x="8321040" y="4279392"/>
            <a:ext cx="2971800" cy="548640"/>
          </a:xfrm>
          <a:prstGeom prst="rect">
            <a:avLst/>
          </a:prstGeom>
          <a:noFill/>
          <a:ln/>
        </p:spPr>
        <p:txBody>
          <a:bodyPr wrap="square" lIns="0" tIns="0" rIns="0" bIns="0" rtlCol="0" anchor="ctr"/>
          <a:lstStyle/>
          <a:p>
            <a:pPr indent="0" marL="0">
              <a:buNone/>
            </a:pPr>
            <a:r>
              <a:rPr lang="en-US" sz="2800" b="1" dirty="0">
                <a:solidFill>
                  <a:srgbClr val="028090"/>
                </a:solidFill>
              </a:rPr>
              <a:t>1 GPU 12 GB</a:t>
            </a:r>
            <a:endParaRPr lang="en-US" sz="2800" dirty="0"/>
          </a:p>
        </p:txBody>
      </p:sp>
      <p:sp>
        <p:nvSpPr>
          <p:cNvPr id="31" name="Text 29"/>
          <p:cNvSpPr txBox="1"/>
          <p:nvPr/>
        </p:nvSpPr>
        <p:spPr>
          <a:xfrm>
            <a:off x="8321040" y="4864608"/>
            <a:ext cx="2971800" cy="411480"/>
          </a:xfrm>
          <a:prstGeom prst="rect">
            <a:avLst/>
          </a:prstGeom>
          <a:noFill/>
          <a:ln/>
        </p:spPr>
        <p:txBody>
          <a:bodyPr wrap="square" lIns="0" tIns="0" rIns="0" bIns="0" rtlCol="0" anchor="ctr"/>
          <a:lstStyle/>
          <a:p>
            <a:pPr indent="0" marL="0">
              <a:buNone/>
            </a:pPr>
            <a:r>
              <a:rPr lang="en-US" sz="1200" dirty="0">
                <a:solidFill>
                  <a:srgbClr val="5F7079"/>
                </a:solidFill>
              </a:rPr>
              <a:t>đủ chạy toàn bộ tập đánh giá</a:t>
            </a:r>
            <a:endParaRPr lang="en-US" sz="12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Retrieval score không trả lời được câu hỏi cần suy luận</a:t>
            </a:r>
            <a:endParaRPr lang="en-US" sz="3200" dirty="0"/>
          </a:p>
        </p:txBody>
      </p:sp>
      <p:sp>
        <p:nvSpPr>
          <p:cNvPr id="3" name="kind-0"/>
          <p:cNvSpPr/>
          <p:nvPr/>
        </p:nvSpPr>
        <p:spPr>
          <a:xfrm>
            <a:off x="548640" y="1463040"/>
            <a:ext cx="5349240" cy="2011680"/>
          </a:xfrm>
          <a:prstGeom prst="roundRect">
            <a:avLst>
              <a:gd name="adj" fmla="val 3636"/>
            </a:avLst>
          </a:prstGeom>
          <a:solidFill>
            <a:srgbClr val="FFFFFF"/>
          </a:solidFill>
          <a:ln w="15875">
            <a:solidFill>
              <a:srgbClr val="DCE3E6"/>
            </a:solidFill>
            <a:prstDash val="solid"/>
          </a:ln>
        </p:spPr>
      </p:sp>
      <p:sp>
        <p:nvSpPr>
          <p:cNvPr id="4" name="Shape 2"/>
          <p:cNvSpPr/>
          <p:nvPr/>
        </p:nvSpPr>
        <p:spPr>
          <a:xfrm>
            <a:off x="822960" y="1755648"/>
            <a:ext cx="128016" cy="128016"/>
          </a:xfrm>
          <a:prstGeom prst="ellipse">
            <a:avLst/>
          </a:prstGeom>
          <a:solidFill>
            <a:srgbClr val="02C39A"/>
          </a:solidFill>
          <a:ln/>
        </p:spPr>
      </p:sp>
      <p:sp>
        <p:nvSpPr>
          <p:cNvPr id="5" name="Text 3"/>
          <p:cNvSpPr txBox="1"/>
          <p:nvPr/>
        </p:nvSpPr>
        <p:spPr>
          <a:xfrm>
            <a:off x="1078992" y="1700784"/>
            <a:ext cx="4572000" cy="310896"/>
          </a:xfrm>
          <a:prstGeom prst="rect">
            <a:avLst/>
          </a:prstGeom>
          <a:noFill/>
          <a:ln/>
        </p:spPr>
        <p:txBody>
          <a:bodyPr wrap="square" lIns="0" tIns="0" rIns="0" bIns="0" rtlCol="0" anchor="ctr"/>
          <a:lstStyle/>
          <a:p>
            <a:pPr indent="0" marL="0">
              <a:buNone/>
            </a:pPr>
            <a:r>
              <a:rPr lang="en-US" sz="1600" b="1" dirty="0">
                <a:solidFill>
                  <a:srgbClr val="1A1F24"/>
                </a:solidFill>
              </a:rPr>
              <a:t>Thứ tự thời gian</a:t>
            </a:r>
            <a:endParaRPr lang="en-US" sz="1600" dirty="0"/>
          </a:p>
        </p:txBody>
      </p:sp>
      <p:sp>
        <p:nvSpPr>
          <p:cNvPr id="6" name="Text 4"/>
          <p:cNvSpPr txBox="1"/>
          <p:nvPr/>
        </p:nvSpPr>
        <p:spPr>
          <a:xfrm>
            <a:off x="822960" y="2148840"/>
            <a:ext cx="4800600" cy="411480"/>
          </a:xfrm>
          <a:prstGeom prst="rect">
            <a:avLst/>
          </a:prstGeom>
          <a:noFill/>
          <a:ln/>
        </p:spPr>
        <p:txBody>
          <a:bodyPr wrap="square" lIns="0" tIns="0" rIns="0" bIns="0" rtlCol="0" anchor="ctr"/>
          <a:lstStyle/>
          <a:p>
            <a:pPr indent="0" marL="0">
              <a:buNone/>
            </a:pPr>
            <a:r>
              <a:rPr lang="en-US" sz="1400" i="1" dirty="0">
                <a:solidFill>
                  <a:srgbClr val="028090"/>
                </a:solidFill>
              </a:rPr>
              <a:t>“Người đàn ông làm gì trước khi mở cửa?”</a:t>
            </a:r>
            <a:endParaRPr lang="en-US" sz="1400" dirty="0"/>
          </a:p>
        </p:txBody>
      </p:sp>
      <p:sp>
        <p:nvSpPr>
          <p:cNvPr id="7" name="Text 5"/>
          <p:cNvSpPr txBox="1"/>
          <p:nvPr/>
        </p:nvSpPr>
        <p:spPr>
          <a:xfrm>
            <a:off x="822960" y="2633472"/>
            <a:ext cx="480060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CLIP chấm từng frame độc lập — không biết frame nào đứng trước frame nào.</a:t>
            </a:r>
            <a:endParaRPr lang="en-US" sz="1300" dirty="0"/>
          </a:p>
        </p:txBody>
      </p:sp>
      <p:sp>
        <p:nvSpPr>
          <p:cNvPr id="8" name="kind-1"/>
          <p:cNvSpPr/>
          <p:nvPr/>
        </p:nvSpPr>
        <p:spPr>
          <a:xfrm>
            <a:off x="6263640" y="1463040"/>
            <a:ext cx="5349240" cy="2011680"/>
          </a:xfrm>
          <a:prstGeom prst="roundRect">
            <a:avLst>
              <a:gd name="adj" fmla="val 3636"/>
            </a:avLst>
          </a:prstGeom>
          <a:solidFill>
            <a:srgbClr val="FFFFFF"/>
          </a:solidFill>
          <a:ln w="15875">
            <a:solidFill>
              <a:srgbClr val="DCE3E6"/>
            </a:solidFill>
            <a:prstDash val="solid"/>
          </a:ln>
        </p:spPr>
      </p:sp>
      <p:sp>
        <p:nvSpPr>
          <p:cNvPr id="9" name="Shape 7"/>
          <p:cNvSpPr/>
          <p:nvPr/>
        </p:nvSpPr>
        <p:spPr>
          <a:xfrm>
            <a:off x="6537960" y="1755648"/>
            <a:ext cx="128016" cy="128016"/>
          </a:xfrm>
          <a:prstGeom prst="ellipse">
            <a:avLst/>
          </a:prstGeom>
          <a:solidFill>
            <a:srgbClr val="02C39A"/>
          </a:solidFill>
          <a:ln/>
        </p:spPr>
      </p:sp>
      <p:sp>
        <p:nvSpPr>
          <p:cNvPr id="10" name="Text 8"/>
          <p:cNvSpPr txBox="1"/>
          <p:nvPr/>
        </p:nvSpPr>
        <p:spPr>
          <a:xfrm>
            <a:off x="6793992" y="1700784"/>
            <a:ext cx="4572000" cy="310896"/>
          </a:xfrm>
          <a:prstGeom prst="rect">
            <a:avLst/>
          </a:prstGeom>
          <a:noFill/>
          <a:ln/>
        </p:spPr>
        <p:txBody>
          <a:bodyPr wrap="square" lIns="0" tIns="0" rIns="0" bIns="0" rtlCol="0" anchor="ctr"/>
          <a:lstStyle/>
          <a:p>
            <a:pPr indent="0" marL="0">
              <a:buNone/>
            </a:pPr>
            <a:r>
              <a:rPr lang="en-US" sz="1600" b="1" dirty="0">
                <a:solidFill>
                  <a:srgbClr val="1A1F24"/>
                </a:solidFill>
              </a:rPr>
              <a:t>Nhân quả</a:t>
            </a:r>
            <a:endParaRPr lang="en-US" sz="1600" dirty="0"/>
          </a:p>
        </p:txBody>
      </p:sp>
      <p:sp>
        <p:nvSpPr>
          <p:cNvPr id="11" name="Text 9"/>
          <p:cNvSpPr txBox="1"/>
          <p:nvPr/>
        </p:nvSpPr>
        <p:spPr>
          <a:xfrm>
            <a:off x="6537960" y="2148840"/>
            <a:ext cx="4800600" cy="411480"/>
          </a:xfrm>
          <a:prstGeom prst="rect">
            <a:avLst/>
          </a:prstGeom>
          <a:noFill/>
          <a:ln/>
        </p:spPr>
        <p:txBody>
          <a:bodyPr wrap="square" lIns="0" tIns="0" rIns="0" bIns="0" rtlCol="0" anchor="ctr"/>
          <a:lstStyle/>
          <a:p>
            <a:pPr indent="0" marL="0">
              <a:buNone/>
            </a:pPr>
            <a:r>
              <a:rPr lang="en-US" sz="1400" i="1" dirty="0">
                <a:solidFill>
                  <a:srgbClr val="028090"/>
                </a:solidFill>
              </a:rPr>
              <a:t>“Vì sao chiếc xe dịch chuyển?”</a:t>
            </a:r>
            <a:endParaRPr lang="en-US" sz="1400" dirty="0"/>
          </a:p>
        </p:txBody>
      </p:sp>
      <p:sp>
        <p:nvSpPr>
          <p:cNvPr id="12" name="Text 10"/>
          <p:cNvSpPr txBox="1"/>
          <p:nvPr/>
        </p:nvSpPr>
        <p:spPr>
          <a:xfrm>
            <a:off x="6537960" y="2633472"/>
            <a:ext cx="480060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Nguyên nhân nảy ra từ nhiều frame cộng lại, không nằm gọn trong một frame.</a:t>
            </a:r>
            <a:endParaRPr lang="en-US" sz="1300" dirty="0"/>
          </a:p>
        </p:txBody>
      </p:sp>
      <p:sp>
        <p:nvSpPr>
          <p:cNvPr id="13" name="kind-2"/>
          <p:cNvSpPr/>
          <p:nvPr/>
        </p:nvSpPr>
        <p:spPr>
          <a:xfrm>
            <a:off x="548640" y="3703320"/>
            <a:ext cx="5349240" cy="2011680"/>
          </a:xfrm>
          <a:prstGeom prst="roundRect">
            <a:avLst>
              <a:gd name="adj" fmla="val 3636"/>
            </a:avLst>
          </a:prstGeom>
          <a:solidFill>
            <a:srgbClr val="FFFFFF"/>
          </a:solidFill>
          <a:ln w="15875">
            <a:solidFill>
              <a:srgbClr val="DCE3E6"/>
            </a:solidFill>
            <a:prstDash val="solid"/>
          </a:ln>
        </p:spPr>
      </p:sp>
      <p:sp>
        <p:nvSpPr>
          <p:cNvPr id="14" name="Shape 12"/>
          <p:cNvSpPr/>
          <p:nvPr/>
        </p:nvSpPr>
        <p:spPr>
          <a:xfrm>
            <a:off x="822960" y="3995928"/>
            <a:ext cx="128016" cy="128016"/>
          </a:xfrm>
          <a:prstGeom prst="ellipse">
            <a:avLst/>
          </a:prstGeom>
          <a:solidFill>
            <a:srgbClr val="02C39A"/>
          </a:solidFill>
          <a:ln/>
        </p:spPr>
      </p:sp>
      <p:sp>
        <p:nvSpPr>
          <p:cNvPr id="15" name="Text 13"/>
          <p:cNvSpPr txBox="1"/>
          <p:nvPr/>
        </p:nvSpPr>
        <p:spPr>
          <a:xfrm>
            <a:off x="1078992" y="3941064"/>
            <a:ext cx="4572000" cy="310896"/>
          </a:xfrm>
          <a:prstGeom prst="rect">
            <a:avLst/>
          </a:prstGeom>
          <a:noFill/>
          <a:ln/>
        </p:spPr>
        <p:txBody>
          <a:bodyPr wrap="square" lIns="0" tIns="0" rIns="0" bIns="0" rtlCol="0" anchor="ctr"/>
          <a:lstStyle/>
          <a:p>
            <a:pPr indent="0" marL="0">
              <a:buNone/>
            </a:pPr>
            <a:r>
              <a:rPr lang="en-US" sz="1600" b="1" dirty="0">
                <a:solidFill>
                  <a:srgbClr val="1A1F24"/>
                </a:solidFill>
              </a:rPr>
              <a:t>Quan hệ sở hữu</a:t>
            </a:r>
            <a:endParaRPr lang="en-US" sz="1600" dirty="0"/>
          </a:p>
        </p:txBody>
      </p:sp>
      <p:sp>
        <p:nvSpPr>
          <p:cNvPr id="16" name="Text 14"/>
          <p:cNvSpPr txBox="1"/>
          <p:nvPr/>
        </p:nvSpPr>
        <p:spPr>
          <a:xfrm>
            <a:off x="822960" y="4389120"/>
            <a:ext cx="4800600" cy="411480"/>
          </a:xfrm>
          <a:prstGeom prst="rect">
            <a:avLst/>
          </a:prstGeom>
          <a:noFill/>
          <a:ln/>
        </p:spPr>
        <p:txBody>
          <a:bodyPr wrap="square" lIns="0" tIns="0" rIns="0" bIns="0" rtlCol="0" anchor="ctr"/>
          <a:lstStyle/>
          <a:p>
            <a:pPr indent="0" marL="0">
              <a:buNone/>
            </a:pPr>
            <a:r>
              <a:rPr lang="en-US" sz="1400" i="1" dirty="0">
                <a:solidFill>
                  <a:srgbClr val="028090"/>
                </a:solidFill>
              </a:rPr>
              <a:t>“Cái túi đó là của ai?”</a:t>
            </a:r>
            <a:endParaRPr lang="en-US" sz="1400" dirty="0"/>
          </a:p>
        </p:txBody>
      </p:sp>
      <p:sp>
        <p:nvSpPr>
          <p:cNvPr id="17" name="Text 15"/>
          <p:cNvSpPr txBox="1"/>
          <p:nvPr/>
        </p:nvSpPr>
        <p:spPr>
          <a:xfrm>
            <a:off x="822960" y="4873752"/>
            <a:ext cx="480060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Phải gán đối tượng với người — bài toán grounding cộng reasoning.</a:t>
            </a:r>
            <a:endParaRPr lang="en-US" sz="1300" dirty="0"/>
          </a:p>
        </p:txBody>
      </p:sp>
      <p:sp>
        <p:nvSpPr>
          <p:cNvPr id="18" name="kind-3"/>
          <p:cNvSpPr/>
          <p:nvPr/>
        </p:nvSpPr>
        <p:spPr>
          <a:xfrm>
            <a:off x="6263640" y="3703320"/>
            <a:ext cx="5349240" cy="2011680"/>
          </a:xfrm>
          <a:prstGeom prst="roundRect">
            <a:avLst>
              <a:gd name="adj" fmla="val 3636"/>
            </a:avLst>
          </a:prstGeom>
          <a:solidFill>
            <a:srgbClr val="FFFFFF"/>
          </a:solidFill>
          <a:ln w="15875">
            <a:solidFill>
              <a:srgbClr val="DCE3E6"/>
            </a:solidFill>
            <a:prstDash val="solid"/>
          </a:ln>
        </p:spPr>
      </p:sp>
      <p:sp>
        <p:nvSpPr>
          <p:cNvPr id="19" name="Shape 17"/>
          <p:cNvSpPr/>
          <p:nvPr/>
        </p:nvSpPr>
        <p:spPr>
          <a:xfrm>
            <a:off x="6537960" y="3995928"/>
            <a:ext cx="128016" cy="128016"/>
          </a:xfrm>
          <a:prstGeom prst="ellipse">
            <a:avLst/>
          </a:prstGeom>
          <a:solidFill>
            <a:srgbClr val="02C39A"/>
          </a:solidFill>
          <a:ln/>
        </p:spPr>
      </p:sp>
      <p:sp>
        <p:nvSpPr>
          <p:cNvPr id="20" name="Text 18"/>
          <p:cNvSpPr txBox="1"/>
          <p:nvPr/>
        </p:nvSpPr>
        <p:spPr>
          <a:xfrm>
            <a:off x="6793992" y="3941064"/>
            <a:ext cx="4572000" cy="310896"/>
          </a:xfrm>
          <a:prstGeom prst="rect">
            <a:avLst/>
          </a:prstGeom>
          <a:noFill/>
          <a:ln/>
        </p:spPr>
        <p:txBody>
          <a:bodyPr wrap="square" lIns="0" tIns="0" rIns="0" bIns="0" rtlCol="0" anchor="ctr"/>
          <a:lstStyle/>
          <a:p>
            <a:pPr indent="0" marL="0">
              <a:buNone/>
            </a:pPr>
            <a:r>
              <a:rPr lang="en-US" sz="1600" b="1" dirty="0">
                <a:solidFill>
                  <a:srgbClr val="1A1F24"/>
                </a:solidFill>
              </a:rPr>
              <a:t>Đếm và so sánh</a:t>
            </a:r>
            <a:endParaRPr lang="en-US" sz="1600" dirty="0"/>
          </a:p>
        </p:txBody>
      </p:sp>
      <p:sp>
        <p:nvSpPr>
          <p:cNvPr id="21" name="Text 19"/>
          <p:cNvSpPr txBox="1"/>
          <p:nvPr/>
        </p:nvSpPr>
        <p:spPr>
          <a:xfrm>
            <a:off x="6537960" y="4389120"/>
            <a:ext cx="4800600" cy="411480"/>
          </a:xfrm>
          <a:prstGeom prst="rect">
            <a:avLst/>
          </a:prstGeom>
          <a:noFill/>
          <a:ln/>
        </p:spPr>
        <p:txBody>
          <a:bodyPr wrap="square" lIns="0" tIns="0" rIns="0" bIns="0" rtlCol="0" anchor="ctr"/>
          <a:lstStyle/>
          <a:p>
            <a:pPr indent="0" marL="0">
              <a:buNone/>
            </a:pPr>
            <a:r>
              <a:rPr lang="en-US" sz="1400" i="1" dirty="0">
                <a:solidFill>
                  <a:srgbClr val="028090"/>
                </a:solidFill>
              </a:rPr>
              <a:t>“Có bao nhiêu người mặc áo đỏ?”</a:t>
            </a:r>
            <a:endParaRPr lang="en-US" sz="1400" dirty="0"/>
          </a:p>
        </p:txBody>
      </p:sp>
      <p:sp>
        <p:nvSpPr>
          <p:cNvPr id="22" name="Text 20"/>
          <p:cNvSpPr txBox="1"/>
          <p:nvPr/>
        </p:nvSpPr>
        <p:spPr>
          <a:xfrm>
            <a:off x="6537960" y="4873752"/>
            <a:ext cx="480060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Phải đếm xuyên frame mà không đếm trùng một người hai lần.</a:t>
            </a:r>
            <a:endParaRPr lang="en-US" sz="1300" dirty="0"/>
          </a:p>
        </p:txBody>
      </p:sp>
      <p:sp>
        <p:nvSpPr>
          <p:cNvPr id="23" name="Text 21"/>
          <p:cNvSpPr txBox="1"/>
          <p:nvPr/>
        </p:nvSpPr>
        <p:spPr>
          <a:xfrm>
            <a:off x="548640" y="5943600"/>
            <a:ext cx="11064240" cy="320040"/>
          </a:xfrm>
          <a:prstGeom prst="rect">
            <a:avLst/>
          </a:prstGeom>
          <a:noFill/>
          <a:ln/>
        </p:spPr>
        <p:txBody>
          <a:bodyPr wrap="square" lIns="0" tIns="0" rIns="0" bIns="0" rtlCol="0" anchor="ctr"/>
          <a:lstStyle/>
          <a:p>
            <a:pPr indent="0" marL="0">
              <a:buNone/>
            </a:pPr>
            <a:r>
              <a:rPr lang="en-US" sz="1300" dirty="0">
                <a:solidFill>
                  <a:srgbClr val="5F7079"/>
                </a:solidFill>
              </a:rPr>
              <a:t>Thêm một lý do: ba nguồn tín hiệu (visual, OCR, ASR) thường bất đồng — không có công thức cộng điểm nào hợp nhất được chúng.</a:t>
            </a:r>
            <a:endParaRPr lang="en-US" sz="13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Input của VLM: bốn thành phần trong một prompt</a:t>
            </a:r>
            <a:endParaRPr lang="en-US" sz="3200" dirty="0"/>
          </a:p>
        </p:txBody>
      </p:sp>
      <p:sp>
        <p:nvSpPr>
          <p:cNvPr id="3" name="in-0"/>
          <p:cNvSpPr/>
          <p:nvPr/>
        </p:nvSpPr>
        <p:spPr>
          <a:xfrm>
            <a:off x="548640" y="1463040"/>
            <a:ext cx="4846320" cy="512064"/>
          </a:xfrm>
          <a:prstGeom prst="roundRect">
            <a:avLst>
              <a:gd name="adj" fmla="val 14286"/>
            </a:avLst>
          </a:prstGeom>
          <a:solidFill>
            <a:srgbClr val="F1F4F5"/>
          </a:solidFill>
          <a:ln w="9525">
            <a:solidFill>
              <a:srgbClr val="F1F4F5"/>
            </a:solidFill>
            <a:prstDash val="solid"/>
          </a:ln>
        </p:spPr>
      </p:sp>
      <p:sp>
        <p:nvSpPr>
          <p:cNvPr id="4" name="Text 2"/>
          <p:cNvSpPr txBox="1"/>
          <p:nvPr/>
        </p:nvSpPr>
        <p:spPr>
          <a:xfrm>
            <a:off x="777240" y="1463040"/>
            <a:ext cx="4480560" cy="512064"/>
          </a:xfrm>
          <a:prstGeom prst="rect">
            <a:avLst/>
          </a:prstGeom>
          <a:noFill/>
          <a:ln/>
        </p:spPr>
        <p:txBody>
          <a:bodyPr wrap="square" lIns="0" tIns="0" rIns="0" bIns="0" rtlCol="0" anchor="ctr"/>
          <a:lstStyle/>
          <a:p>
            <a:pPr indent="0" marL="0">
              <a:buNone/>
            </a:pPr>
            <a:r>
              <a:rPr lang="en-US" sz="1300" dirty="0">
                <a:solidFill>
                  <a:srgbClr val="1A1F24"/>
                </a:solidFill>
              </a:rPr>
              <a:t>Question</a:t>
            </a:r>
            <a:endParaRPr lang="en-US" sz="1300" dirty="0"/>
          </a:p>
        </p:txBody>
      </p:sp>
      <p:sp>
        <p:nvSpPr>
          <p:cNvPr id="5" name="in-1"/>
          <p:cNvSpPr/>
          <p:nvPr/>
        </p:nvSpPr>
        <p:spPr>
          <a:xfrm>
            <a:off x="548640" y="2121408"/>
            <a:ext cx="4846320" cy="512064"/>
          </a:xfrm>
          <a:prstGeom prst="roundRect">
            <a:avLst>
              <a:gd name="adj" fmla="val 14286"/>
            </a:avLst>
          </a:prstGeom>
          <a:solidFill>
            <a:srgbClr val="F1F4F5"/>
          </a:solidFill>
          <a:ln w="9525">
            <a:solidFill>
              <a:srgbClr val="F1F4F5"/>
            </a:solidFill>
            <a:prstDash val="solid"/>
          </a:ln>
        </p:spPr>
      </p:sp>
      <p:sp>
        <p:nvSpPr>
          <p:cNvPr id="6" name="Text 4"/>
          <p:cNvSpPr txBox="1"/>
          <p:nvPr/>
        </p:nvSpPr>
        <p:spPr>
          <a:xfrm>
            <a:off x="777240" y="2121408"/>
            <a:ext cx="4480560" cy="512064"/>
          </a:xfrm>
          <a:prstGeom prst="rect">
            <a:avLst/>
          </a:prstGeom>
          <a:noFill/>
          <a:ln/>
        </p:spPr>
        <p:txBody>
          <a:bodyPr wrap="square" lIns="0" tIns="0" rIns="0" bIns="0" rtlCol="0" anchor="ctr"/>
          <a:lstStyle/>
          <a:p>
            <a:pPr indent="0" marL="0">
              <a:buNone/>
            </a:pPr>
            <a:r>
              <a:rPr lang="en-US" sz="1300" dirty="0">
                <a:solidFill>
                  <a:srgbClr val="1A1F24"/>
                </a:solidFill>
              </a:rPr>
              <a:t>Candidate frames (top-K, có timestamp)</a:t>
            </a:r>
            <a:endParaRPr lang="en-US" sz="1300" dirty="0"/>
          </a:p>
        </p:txBody>
      </p:sp>
      <p:sp>
        <p:nvSpPr>
          <p:cNvPr id="7" name="in-2"/>
          <p:cNvSpPr/>
          <p:nvPr/>
        </p:nvSpPr>
        <p:spPr>
          <a:xfrm>
            <a:off x="548640" y="2779776"/>
            <a:ext cx="4846320" cy="512064"/>
          </a:xfrm>
          <a:prstGeom prst="roundRect">
            <a:avLst>
              <a:gd name="adj" fmla="val 14286"/>
            </a:avLst>
          </a:prstGeom>
          <a:solidFill>
            <a:srgbClr val="F1F4F5"/>
          </a:solidFill>
          <a:ln w="9525">
            <a:solidFill>
              <a:srgbClr val="F1F4F5"/>
            </a:solidFill>
            <a:prstDash val="solid"/>
          </a:ln>
        </p:spPr>
      </p:sp>
      <p:sp>
        <p:nvSpPr>
          <p:cNvPr id="8" name="Text 6"/>
          <p:cNvSpPr txBox="1"/>
          <p:nvPr/>
        </p:nvSpPr>
        <p:spPr>
          <a:xfrm>
            <a:off x="777240" y="2779776"/>
            <a:ext cx="4480560" cy="512064"/>
          </a:xfrm>
          <a:prstGeom prst="rect">
            <a:avLst/>
          </a:prstGeom>
          <a:noFill/>
          <a:ln/>
        </p:spPr>
        <p:txBody>
          <a:bodyPr wrap="square" lIns="0" tIns="0" rIns="0" bIns="0" rtlCol="0" anchor="ctr"/>
          <a:lstStyle/>
          <a:p>
            <a:pPr indent="0" marL="0">
              <a:buNone/>
            </a:pPr>
            <a:r>
              <a:rPr lang="en-US" sz="1300" dirty="0">
                <a:solidFill>
                  <a:srgbClr val="1A1F24"/>
                </a:solidFill>
              </a:rPr>
              <a:t>OCR text theo từng frame</a:t>
            </a:r>
            <a:endParaRPr lang="en-US" sz="1300" dirty="0"/>
          </a:p>
        </p:txBody>
      </p:sp>
      <p:sp>
        <p:nvSpPr>
          <p:cNvPr id="9" name="in-3"/>
          <p:cNvSpPr/>
          <p:nvPr/>
        </p:nvSpPr>
        <p:spPr>
          <a:xfrm>
            <a:off x="548640" y="3438144"/>
            <a:ext cx="4846320" cy="512064"/>
          </a:xfrm>
          <a:prstGeom prst="roundRect">
            <a:avLst>
              <a:gd name="adj" fmla="val 14286"/>
            </a:avLst>
          </a:prstGeom>
          <a:solidFill>
            <a:srgbClr val="F1F4F5"/>
          </a:solidFill>
          <a:ln w="9525">
            <a:solidFill>
              <a:srgbClr val="F1F4F5"/>
            </a:solidFill>
            <a:prstDash val="solid"/>
          </a:ln>
        </p:spPr>
      </p:sp>
      <p:sp>
        <p:nvSpPr>
          <p:cNvPr id="10" name="Text 8"/>
          <p:cNvSpPr txBox="1"/>
          <p:nvPr/>
        </p:nvSpPr>
        <p:spPr>
          <a:xfrm>
            <a:off x="777240" y="3438144"/>
            <a:ext cx="4480560" cy="512064"/>
          </a:xfrm>
          <a:prstGeom prst="rect">
            <a:avLst/>
          </a:prstGeom>
          <a:noFill/>
          <a:ln/>
        </p:spPr>
        <p:txBody>
          <a:bodyPr wrap="square" lIns="0" tIns="0" rIns="0" bIns="0" rtlCol="0" anchor="ctr"/>
          <a:lstStyle/>
          <a:p>
            <a:pPr indent="0" marL="0">
              <a:buNone/>
            </a:pPr>
            <a:r>
              <a:rPr lang="en-US" sz="1300" dirty="0">
                <a:solidFill>
                  <a:srgbClr val="1A1F24"/>
                </a:solidFill>
              </a:rPr>
              <a:t>ASR transcript theo đoạn</a:t>
            </a:r>
            <a:endParaRPr lang="en-US" sz="1300" dirty="0"/>
          </a:p>
        </p:txBody>
      </p:sp>
      <p:sp>
        <p:nvSpPr>
          <p:cNvPr id="11" name="Shape 9"/>
          <p:cNvSpPr/>
          <p:nvPr/>
        </p:nvSpPr>
        <p:spPr>
          <a:xfrm>
            <a:off x="2971800" y="4114800"/>
            <a:ext cx="0" cy="365760"/>
          </a:xfrm>
          <a:prstGeom prst="line">
            <a:avLst/>
          </a:prstGeom>
          <a:noFill/>
          <a:ln w="19050">
            <a:solidFill>
              <a:srgbClr val="9AA7B0"/>
            </a:solidFill>
            <a:prstDash val="solid"/>
            <a:tailEnd type="triangle"/>
          </a:ln>
        </p:spPr>
      </p:sp>
      <p:sp>
        <p:nvSpPr>
          <p:cNvPr id="12" name="in-vlm"/>
          <p:cNvSpPr/>
          <p:nvPr/>
        </p:nvSpPr>
        <p:spPr>
          <a:xfrm>
            <a:off x="548640" y="4553712"/>
            <a:ext cx="4846320" cy="566928"/>
          </a:xfrm>
          <a:prstGeom prst="roundRect">
            <a:avLst>
              <a:gd name="adj" fmla="val 12903"/>
            </a:avLst>
          </a:prstGeom>
          <a:solidFill>
            <a:srgbClr val="E3F8F2"/>
          </a:solidFill>
          <a:ln w="15875">
            <a:solidFill>
              <a:srgbClr val="02C39A"/>
            </a:solidFill>
            <a:prstDash val="solid"/>
          </a:ln>
        </p:spPr>
      </p:sp>
      <p:sp>
        <p:nvSpPr>
          <p:cNvPr id="13" name="Text 11"/>
          <p:cNvSpPr txBox="1"/>
          <p:nvPr/>
        </p:nvSpPr>
        <p:spPr>
          <a:xfrm>
            <a:off x="777240" y="4553712"/>
            <a:ext cx="4480560" cy="566928"/>
          </a:xfrm>
          <a:prstGeom prst="rect">
            <a:avLst/>
          </a:prstGeom>
          <a:noFill/>
          <a:ln/>
        </p:spPr>
        <p:txBody>
          <a:bodyPr wrap="square" lIns="0" tIns="0" rIns="0" bIns="0" rtlCol="0" anchor="ctr"/>
          <a:lstStyle/>
          <a:p>
            <a:pPr indent="0" marL="0">
              <a:buNone/>
            </a:pPr>
            <a:r>
              <a:rPr lang="en-US" sz="1500" b="1" dirty="0">
                <a:solidFill>
                  <a:srgbClr val="1A1F24"/>
                </a:solidFill>
              </a:rPr>
              <a:t>Qwen2.5-VL-3B</a:t>
            </a:r>
            <a:endParaRPr lang="en-US" sz="1500" dirty="0"/>
          </a:p>
        </p:txBody>
      </p:sp>
      <p:sp>
        <p:nvSpPr>
          <p:cNvPr id="14" name="Shape 12"/>
          <p:cNvSpPr/>
          <p:nvPr/>
        </p:nvSpPr>
        <p:spPr>
          <a:xfrm>
            <a:off x="2971800" y="5175504"/>
            <a:ext cx="0" cy="365760"/>
          </a:xfrm>
          <a:prstGeom prst="line">
            <a:avLst/>
          </a:prstGeom>
          <a:noFill/>
          <a:ln w="19050">
            <a:solidFill>
              <a:srgbClr val="9AA7B0"/>
            </a:solidFill>
            <a:prstDash val="solid"/>
            <a:tailEnd type="triangle"/>
          </a:ln>
        </p:spPr>
      </p:sp>
      <p:sp>
        <p:nvSpPr>
          <p:cNvPr id="15" name="Text 13"/>
          <p:cNvSpPr txBox="1"/>
          <p:nvPr/>
        </p:nvSpPr>
        <p:spPr>
          <a:xfrm>
            <a:off x="548640" y="5596128"/>
            <a:ext cx="4846320" cy="411480"/>
          </a:xfrm>
          <a:prstGeom prst="rect">
            <a:avLst/>
          </a:prstGeom>
          <a:noFill/>
          <a:ln/>
        </p:spPr>
        <p:txBody>
          <a:bodyPr wrap="square" lIns="0" tIns="0" rIns="0" bIns="0" rtlCol="0" anchor="ctr"/>
          <a:lstStyle/>
          <a:p>
            <a:pPr indent="0" marL="0">
              <a:buNone/>
            </a:pPr>
            <a:r>
              <a:rPr lang="en-US" sz="1400" b="1" dirty="0">
                <a:solidFill>
                  <a:srgbClr val="028090"/>
                </a:solidFill>
              </a:rPr>
              <a:t>Answer  +  frame index đã dùng</a:t>
            </a:r>
            <a:endParaRPr lang="en-US" sz="1400" dirty="0"/>
          </a:p>
        </p:txBody>
      </p:sp>
      <p:sp>
        <p:nvSpPr>
          <p:cNvPr id="16" name="Shape 14"/>
          <p:cNvSpPr/>
          <p:nvPr/>
        </p:nvSpPr>
        <p:spPr>
          <a:xfrm>
            <a:off x="5852160" y="1481328"/>
            <a:ext cx="384048" cy="384048"/>
          </a:xfrm>
          <a:prstGeom prst="ellipse">
            <a:avLst/>
          </a:prstGeom>
          <a:solidFill>
            <a:srgbClr val="028090"/>
          </a:solidFill>
          <a:ln/>
        </p:spPr>
      </p:sp>
      <p:sp>
        <p:nvSpPr>
          <p:cNvPr id="17" name="Text 15"/>
          <p:cNvSpPr txBox="1"/>
          <p:nvPr/>
        </p:nvSpPr>
        <p:spPr>
          <a:xfrm>
            <a:off x="5852160" y="14813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8" name="Text 16"/>
          <p:cNvSpPr txBox="1"/>
          <p:nvPr/>
        </p:nvSpPr>
        <p:spPr>
          <a:xfrm>
            <a:off x="6400800" y="1463040"/>
            <a:ext cx="5212080" cy="310896"/>
          </a:xfrm>
          <a:prstGeom prst="rect">
            <a:avLst/>
          </a:prstGeom>
          <a:noFill/>
          <a:ln/>
        </p:spPr>
        <p:txBody>
          <a:bodyPr wrap="square" lIns="0" tIns="0" rIns="0" bIns="0" rtlCol="0" anchor="ctr"/>
          <a:lstStyle/>
          <a:p>
            <a:pPr indent="0" marL="0">
              <a:buNone/>
            </a:pPr>
            <a:r>
              <a:rPr lang="en-US" sz="1500" b="1" dirty="0">
                <a:solidFill>
                  <a:srgbClr val="1A1F24"/>
                </a:solidFill>
              </a:rPr>
              <a:t>Giữ thứ tự thời gian tường minh</a:t>
            </a:r>
            <a:endParaRPr lang="en-US" sz="1500" dirty="0"/>
          </a:p>
        </p:txBody>
      </p:sp>
      <p:sp>
        <p:nvSpPr>
          <p:cNvPr id="19" name="Text 17"/>
          <p:cNvSpPr txBox="1"/>
          <p:nvPr/>
        </p:nvSpPr>
        <p:spPr>
          <a:xfrm>
            <a:off x="6400800" y="1792224"/>
            <a:ext cx="521208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Truyền frame dưới dạng video để M-RoPE gán đúng temporal position id, đừng truyền như danh sách ảnh rời.</a:t>
            </a:r>
            <a:endParaRPr lang="en-US" sz="1300" dirty="0"/>
          </a:p>
        </p:txBody>
      </p:sp>
      <p:sp>
        <p:nvSpPr>
          <p:cNvPr id="20" name="Shape 18"/>
          <p:cNvSpPr/>
          <p:nvPr/>
        </p:nvSpPr>
        <p:spPr>
          <a:xfrm>
            <a:off x="5852160" y="2670048"/>
            <a:ext cx="384048" cy="384048"/>
          </a:xfrm>
          <a:prstGeom prst="ellipse">
            <a:avLst/>
          </a:prstGeom>
          <a:solidFill>
            <a:srgbClr val="028090"/>
          </a:solidFill>
          <a:ln/>
        </p:spPr>
      </p:sp>
      <p:sp>
        <p:nvSpPr>
          <p:cNvPr id="21" name="Text 19"/>
          <p:cNvSpPr txBox="1"/>
          <p:nvPr/>
        </p:nvSpPr>
        <p:spPr>
          <a:xfrm>
            <a:off x="5852160" y="2670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22" name="Text 20"/>
          <p:cNvSpPr txBox="1"/>
          <p:nvPr/>
        </p:nvSpPr>
        <p:spPr>
          <a:xfrm>
            <a:off x="6400800" y="2651760"/>
            <a:ext cx="5212080" cy="310896"/>
          </a:xfrm>
          <a:prstGeom prst="rect">
            <a:avLst/>
          </a:prstGeom>
          <a:noFill/>
          <a:ln/>
        </p:spPr>
        <p:txBody>
          <a:bodyPr wrap="square" lIns="0" tIns="0" rIns="0" bIns="0" rtlCol="0" anchor="ctr"/>
          <a:lstStyle/>
          <a:p>
            <a:pPr indent="0" marL="0">
              <a:buNone/>
            </a:pPr>
            <a:r>
              <a:rPr lang="en-US" sz="1500" b="1" dirty="0">
                <a:solidFill>
                  <a:srgbClr val="1A1F24"/>
                </a:solidFill>
              </a:rPr>
              <a:t>Câu hỏi đặt cuối prompt</a:t>
            </a:r>
            <a:endParaRPr lang="en-US" sz="1500" dirty="0"/>
          </a:p>
        </p:txBody>
      </p:sp>
      <p:sp>
        <p:nvSpPr>
          <p:cNvPr id="23" name="Text 21"/>
          <p:cNvSpPr txBox="1"/>
          <p:nvPr/>
        </p:nvSpPr>
        <p:spPr>
          <a:xfrm>
            <a:off x="6400800" y="2980944"/>
            <a:ext cx="521208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OCR và ASR đứng trước; instruction cuối prompt được tuân thủ tốt hơn.</a:t>
            </a:r>
            <a:endParaRPr lang="en-US" sz="1300" dirty="0"/>
          </a:p>
        </p:txBody>
      </p:sp>
      <p:sp>
        <p:nvSpPr>
          <p:cNvPr id="24" name="Shape 22"/>
          <p:cNvSpPr/>
          <p:nvPr/>
        </p:nvSpPr>
        <p:spPr>
          <a:xfrm>
            <a:off x="5852160" y="3858768"/>
            <a:ext cx="384048" cy="384048"/>
          </a:xfrm>
          <a:prstGeom prst="ellipse">
            <a:avLst/>
          </a:prstGeom>
          <a:solidFill>
            <a:srgbClr val="028090"/>
          </a:solidFill>
          <a:ln/>
        </p:spPr>
      </p:sp>
      <p:sp>
        <p:nvSpPr>
          <p:cNvPr id="25" name="Text 23"/>
          <p:cNvSpPr txBox="1"/>
          <p:nvPr/>
        </p:nvSpPr>
        <p:spPr>
          <a:xfrm>
            <a:off x="5852160" y="38587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6" name="Text 24"/>
          <p:cNvSpPr txBox="1"/>
          <p:nvPr/>
        </p:nvSpPr>
        <p:spPr>
          <a:xfrm>
            <a:off x="6400800" y="3840480"/>
            <a:ext cx="5212080" cy="310896"/>
          </a:xfrm>
          <a:prstGeom prst="rect">
            <a:avLst/>
          </a:prstGeom>
          <a:noFill/>
          <a:ln/>
        </p:spPr>
        <p:txBody>
          <a:bodyPr wrap="square" lIns="0" tIns="0" rIns="0" bIns="0" rtlCol="0" anchor="ctr"/>
          <a:lstStyle/>
          <a:p>
            <a:pPr indent="0" marL="0">
              <a:buNone/>
            </a:pPr>
            <a:r>
              <a:rPr lang="en-US" sz="1500" b="1" dirty="0">
                <a:solidFill>
                  <a:srgbClr val="1A1F24"/>
                </a:solidFill>
              </a:rPr>
              <a:t>Chặn token budget</a:t>
            </a:r>
            <a:endParaRPr lang="en-US" sz="1500" dirty="0"/>
          </a:p>
        </p:txBody>
      </p:sp>
      <p:sp>
        <p:nvSpPr>
          <p:cNvPr id="27" name="Text 25"/>
          <p:cNvSpPr txBox="1"/>
          <p:nvPr/>
        </p:nvSpPr>
        <p:spPr>
          <a:xfrm>
            <a:off x="6400800" y="4169664"/>
            <a:ext cx="521208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max_pixels quyết định số visual token mỗi frame — đây là tham số phải tune, không để mặc định.</a:t>
            </a:r>
            <a:endParaRPr lang="en-US" sz="1300" dirty="0"/>
          </a:p>
        </p:txBody>
      </p:sp>
      <p:sp>
        <p:nvSpPr>
          <p:cNvPr id="28" name="Shape 26"/>
          <p:cNvSpPr/>
          <p:nvPr/>
        </p:nvSpPr>
        <p:spPr>
          <a:xfrm>
            <a:off x="5852160" y="5047488"/>
            <a:ext cx="384048" cy="384048"/>
          </a:xfrm>
          <a:prstGeom prst="ellipse">
            <a:avLst/>
          </a:prstGeom>
          <a:solidFill>
            <a:srgbClr val="028090"/>
          </a:solidFill>
          <a:ln/>
        </p:spPr>
      </p:sp>
      <p:sp>
        <p:nvSpPr>
          <p:cNvPr id="29" name="Text 27"/>
          <p:cNvSpPr txBox="1"/>
          <p:nvPr/>
        </p:nvSpPr>
        <p:spPr>
          <a:xfrm>
            <a:off x="5852160" y="504748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30" name="Text 28"/>
          <p:cNvSpPr txBox="1"/>
          <p:nvPr/>
        </p:nvSpPr>
        <p:spPr>
          <a:xfrm>
            <a:off x="6400800" y="5029200"/>
            <a:ext cx="5212080" cy="310896"/>
          </a:xfrm>
          <a:prstGeom prst="rect">
            <a:avLst/>
          </a:prstGeom>
          <a:noFill/>
          <a:ln/>
        </p:spPr>
        <p:txBody>
          <a:bodyPr wrap="square" lIns="0" tIns="0" rIns="0" bIns="0" rtlCol="0" anchor="ctr"/>
          <a:lstStyle/>
          <a:p>
            <a:pPr indent="0" marL="0">
              <a:buNone/>
            </a:pPr>
            <a:r>
              <a:rPr lang="en-US" sz="1500" b="1" dirty="0">
                <a:solidFill>
                  <a:srgbClr val="1A1F24"/>
                </a:solidFill>
              </a:rPr>
              <a:t>Bắt mô hình trích dẫn frame</a:t>
            </a:r>
            <a:endParaRPr lang="en-US" sz="1500" dirty="0"/>
          </a:p>
        </p:txBody>
      </p:sp>
      <p:sp>
        <p:nvSpPr>
          <p:cNvPr id="31" name="Text 29"/>
          <p:cNvSpPr txBox="1"/>
          <p:nvPr/>
        </p:nvSpPr>
        <p:spPr>
          <a:xfrm>
            <a:off x="6400800" y="5358384"/>
            <a:ext cx="5212080" cy="731520"/>
          </a:xfrm>
          <a:prstGeom prst="rect">
            <a:avLst/>
          </a:prstGeom>
          <a:noFill/>
          <a:ln/>
        </p:spPr>
        <p:txBody>
          <a:bodyPr wrap="square" lIns="0" tIns="0" rIns="0" bIns="0" rtlCol="0" anchor="t"/>
          <a:lstStyle/>
          <a:p>
            <a:pPr indent="0" marL="0">
              <a:lnSpc>
                <a:spcPct val="115000"/>
              </a:lnSpc>
              <a:buNone/>
            </a:pPr>
            <a:r>
              <a:rPr lang="en-US" sz="1300" dirty="0">
                <a:solidFill>
                  <a:srgbClr val="5F7079"/>
                </a:solidFill>
              </a:rPr>
              <a:t>Không phải để điểm cao hơn, mà để sau này phân tích được lỗi nằm ở retrieval hay ở reasoning.</a:t>
            </a:r>
            <a:endParaRPr lang="en-US" sz="13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698480" cy="1005840"/>
          </a:xfrm>
          <a:prstGeom prst="rect">
            <a:avLst/>
          </a:prstGeom>
          <a:noFill/>
          <a:ln/>
        </p:spPr>
        <p:txBody>
          <a:bodyPr wrap="square" rtlCol="0" anchor="ctr"/>
          <a:lstStyle/>
          <a:p>
            <a:pPr algn="l" indent="0" marL="0">
              <a:buNone/>
            </a:pPr>
            <a:r>
              <a:rPr lang="en-US" sz="4000" b="1" dirty="0">
                <a:solidFill>
                  <a:srgbClr val="FFFFFF"/>
                </a:solidFill>
              </a:rPr>
              <a:t>Kiến trúc Qwen2.5-VL-3B</a:t>
            </a:r>
            <a:endParaRPr lang="en-US" sz="4000" dirty="0"/>
          </a:p>
        </p:txBody>
      </p:sp>
      <p:sp>
        <p:nvSpPr>
          <p:cNvPr id="3" name="Text 0"/>
          <p:cNvSpPr/>
          <p:nvPr>
            <p:ph idx="101" type="body" hasCustomPrompt="1"/>
          </p:nvPr>
        </p:nvSpPr>
        <p:spPr>
          <a:xfrm>
            <a:off x="731520" y="3794760"/>
            <a:ext cx="9144000" cy="731520"/>
          </a:xfrm>
          <a:prstGeom prst="rect">
            <a:avLst/>
          </a:prstGeom>
          <a:noFill/>
          <a:ln/>
        </p:spPr>
        <p:txBody>
          <a:bodyPr wrap="square" rtlCol="0" anchor="t"/>
          <a:lstStyle/>
          <a:p>
            <a:pPr algn="l" indent="0" marL="0">
              <a:buNone/>
            </a:pPr>
            <a:r>
              <a:rPr lang="en-US" sz="1600" dirty="0">
                <a:solidFill>
                  <a:srgbClr val="AEB9C0"/>
                </a:solidFill>
              </a:rPr>
              <a:t>Ảnh → ViT → patch merger → visual token → LLM → chữ</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Hai khối: ViT nén ảnh thành token, LLM suy luận</a:t>
            </a:r>
            <a:endParaRPr lang="en-US" sz="3200" dirty="0"/>
          </a:p>
        </p:txBody>
      </p:sp>
      <p:sp>
        <p:nvSpPr>
          <p:cNvPr id="3" name="arch-0"/>
          <p:cNvSpPr/>
          <p:nvPr/>
        </p:nvSpPr>
        <p:spPr>
          <a:xfrm>
            <a:off x="548640" y="1463040"/>
            <a:ext cx="2468880" cy="2697480"/>
          </a:xfrm>
          <a:prstGeom prst="roundRect">
            <a:avLst>
              <a:gd name="adj" fmla="val 2963"/>
            </a:avLst>
          </a:prstGeom>
          <a:solidFill>
            <a:srgbClr val="F1F4F5"/>
          </a:solidFill>
          <a:ln w="9525">
            <a:solidFill>
              <a:srgbClr val="F1F4F5"/>
            </a:solidFill>
            <a:prstDash val="solid"/>
          </a:ln>
        </p:spPr>
      </p:sp>
      <p:sp>
        <p:nvSpPr>
          <p:cNvPr id="4" name="Text 2"/>
          <p:cNvSpPr txBox="1"/>
          <p:nvPr/>
        </p:nvSpPr>
        <p:spPr>
          <a:xfrm>
            <a:off x="749808" y="1627632"/>
            <a:ext cx="2103120" cy="457200"/>
          </a:xfrm>
          <a:prstGeom prst="rect">
            <a:avLst/>
          </a:prstGeom>
          <a:noFill/>
          <a:ln/>
        </p:spPr>
        <p:txBody>
          <a:bodyPr wrap="square" lIns="0" tIns="0" rIns="0" bIns="0" rtlCol="0" anchor="t"/>
          <a:lstStyle/>
          <a:p>
            <a:pPr indent="0" marL="0">
              <a:buNone/>
            </a:pPr>
            <a:r>
              <a:rPr lang="en-US" sz="1500" b="1" dirty="0">
                <a:solidFill>
                  <a:srgbClr val="1A1F24"/>
                </a:solidFill>
              </a:rPr>
              <a:t>Input</a:t>
            </a:r>
            <a:endParaRPr lang="en-US" sz="1500" dirty="0"/>
          </a:p>
        </p:txBody>
      </p:sp>
      <p:sp>
        <p:nvSpPr>
          <p:cNvPr id="5" name="Text 3"/>
          <p:cNvSpPr txBox="1"/>
          <p:nvPr/>
        </p:nvSpPr>
        <p:spPr>
          <a:xfrm>
            <a:off x="749808" y="2121408"/>
            <a:ext cx="2103120" cy="23774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7079"/>
                </a:solidFill>
              </a:rPr>
              <a:t>Giữ nguyên độ phân giải gốc</a:t>
            </a:r>
            <a:endParaRPr lang="en-US" sz="1100" dirty="0"/>
          </a:p>
          <a:p>
            <a:pPr marL="342900" indent="-342900">
              <a:spcAft>
                <a:spcPts val="500"/>
              </a:spcAft>
              <a:buSzPct val="100000"/>
              <a:buChar char="•"/>
            </a:pPr>
            <a:r>
              <a:rPr lang="en-US" sz="1100" dirty="0">
                <a:solidFill>
                  <a:srgbClr val="5F7079"/>
                </a:solidFill>
              </a:rPr>
              <a:t>Không resize về 224×224</a:t>
            </a:r>
            <a:endParaRPr lang="en-US" sz="1100" dirty="0"/>
          </a:p>
          <a:p>
            <a:pPr marL="342900" indent="-342900">
              <a:spcAft>
                <a:spcPts val="500"/>
              </a:spcAft>
              <a:buSzPct val="100000"/>
              <a:buChar char="•"/>
            </a:pPr>
            <a:r>
              <a:rPr lang="en-US" sz="1100" dirty="0">
                <a:solidFill>
                  <a:srgbClr val="5F7079"/>
                </a:solidFill>
              </a:rPr>
              <a:t>Video: dynamic FPS sampling</a:t>
            </a:r>
            <a:endParaRPr lang="en-US" sz="1100" dirty="0"/>
          </a:p>
          <a:p>
            <a:pPr marL="342900" indent="-342900">
              <a:spcAft>
                <a:spcPts val="500"/>
              </a:spcAft>
              <a:buSzPct val="100000"/>
              <a:buChar char="•"/>
            </a:pPr>
            <a:r>
              <a:rPr lang="en-US" sz="1100" dirty="0">
                <a:solidFill>
                  <a:srgbClr val="5F7079"/>
                </a:solidFill>
              </a:rPr>
              <a:t>Temporal patch = 2</a:t>
            </a:r>
            <a:endParaRPr lang="en-US" sz="1100" dirty="0"/>
          </a:p>
        </p:txBody>
      </p:sp>
      <p:sp>
        <p:nvSpPr>
          <p:cNvPr id="6" name="Shape 4"/>
          <p:cNvSpPr/>
          <p:nvPr/>
        </p:nvSpPr>
        <p:spPr>
          <a:xfrm>
            <a:off x="3063240" y="2816352"/>
            <a:ext cx="292608" cy="0"/>
          </a:xfrm>
          <a:prstGeom prst="line">
            <a:avLst/>
          </a:prstGeom>
          <a:noFill/>
          <a:ln w="19050">
            <a:solidFill>
              <a:srgbClr val="9AA7B0"/>
            </a:solidFill>
            <a:prstDash val="solid"/>
            <a:tailEnd type="triangle"/>
          </a:ln>
        </p:spPr>
      </p:sp>
      <p:sp>
        <p:nvSpPr>
          <p:cNvPr id="7" name="arch-1"/>
          <p:cNvSpPr/>
          <p:nvPr/>
        </p:nvSpPr>
        <p:spPr>
          <a:xfrm>
            <a:off x="3410712" y="1463040"/>
            <a:ext cx="2468880" cy="2697480"/>
          </a:xfrm>
          <a:prstGeom prst="roundRect">
            <a:avLst>
              <a:gd name="adj" fmla="val 2963"/>
            </a:avLst>
          </a:prstGeom>
          <a:solidFill>
            <a:srgbClr val="F1F4F5"/>
          </a:solidFill>
          <a:ln w="9525">
            <a:solidFill>
              <a:srgbClr val="F1F4F5"/>
            </a:solidFill>
            <a:prstDash val="solid"/>
          </a:ln>
        </p:spPr>
      </p:sp>
      <p:sp>
        <p:nvSpPr>
          <p:cNvPr id="8" name="Text 6"/>
          <p:cNvSpPr txBox="1"/>
          <p:nvPr/>
        </p:nvSpPr>
        <p:spPr>
          <a:xfrm>
            <a:off x="3611880" y="1627632"/>
            <a:ext cx="2103120" cy="457200"/>
          </a:xfrm>
          <a:prstGeom prst="rect">
            <a:avLst/>
          </a:prstGeom>
          <a:noFill/>
          <a:ln/>
        </p:spPr>
        <p:txBody>
          <a:bodyPr wrap="square" lIns="0" tIns="0" rIns="0" bIns="0" rtlCol="0" anchor="t"/>
          <a:lstStyle/>
          <a:p>
            <a:pPr indent="0" marL="0">
              <a:buNone/>
            </a:pPr>
            <a:r>
              <a:rPr lang="en-US" sz="1500" b="1" dirty="0">
                <a:solidFill>
                  <a:srgbClr val="1A1F24"/>
                </a:solidFill>
              </a:rPr>
              <a:t>Vision Transformer</a:t>
            </a:r>
            <a:endParaRPr lang="en-US" sz="1500" dirty="0"/>
          </a:p>
        </p:txBody>
      </p:sp>
      <p:sp>
        <p:nvSpPr>
          <p:cNvPr id="9" name="Text 7"/>
          <p:cNvSpPr txBox="1"/>
          <p:nvPr/>
        </p:nvSpPr>
        <p:spPr>
          <a:xfrm>
            <a:off x="3611880" y="2121408"/>
            <a:ext cx="2103120" cy="23774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7079"/>
                </a:solidFill>
              </a:rPr>
              <a:t>32 layer · hidden 1280 · 16 head</a:t>
            </a:r>
            <a:endParaRPr lang="en-US" sz="1100" dirty="0"/>
          </a:p>
          <a:p>
            <a:pPr marL="342900" indent="-342900">
              <a:spcAft>
                <a:spcPts val="500"/>
              </a:spcAft>
              <a:buSzPct val="100000"/>
              <a:buChar char="•"/>
            </a:pPr>
            <a:r>
              <a:rPr lang="en-US" sz="1100" dirty="0">
                <a:solidFill>
                  <a:srgbClr val="5F7079"/>
                </a:solidFill>
              </a:rPr>
              <a:t>Patch 14×14 px</a:t>
            </a:r>
            <a:endParaRPr lang="en-US" sz="1100" dirty="0"/>
          </a:p>
          <a:p>
            <a:pPr marL="342900" indent="-342900">
              <a:spcAft>
                <a:spcPts val="500"/>
              </a:spcAft>
              <a:buSzPct val="100000"/>
              <a:buChar char="•"/>
            </a:pPr>
            <a:r>
              <a:rPr lang="en-US" sz="1100" dirty="0">
                <a:solidFill>
                  <a:srgbClr val="5F7079"/>
                </a:solidFill>
              </a:rPr>
              <a:t>Window attention 112×112</a:t>
            </a:r>
            <a:endParaRPr lang="en-US" sz="1100" dirty="0"/>
          </a:p>
          <a:p>
            <a:pPr marL="342900" indent="-342900">
              <a:spcAft>
                <a:spcPts val="500"/>
              </a:spcAft>
              <a:buSzPct val="100000"/>
              <a:buChar char="•"/>
            </a:pPr>
            <a:r>
              <a:rPr lang="en-US" sz="1100" dirty="0">
                <a:solidFill>
                  <a:srgbClr val="5F7079"/>
                </a:solidFill>
              </a:rPr>
              <a:t>Chỉ 4 layer full attention</a:t>
            </a:r>
            <a:endParaRPr lang="en-US" sz="1100" dirty="0"/>
          </a:p>
          <a:p>
            <a:pPr marL="342900" indent="-342900">
              <a:spcAft>
                <a:spcPts val="500"/>
              </a:spcAft>
              <a:buSzPct val="100000"/>
              <a:buChar char="•"/>
            </a:pPr>
            <a:r>
              <a:rPr lang="en-US" sz="1100" dirty="0">
                <a:solidFill>
                  <a:srgbClr val="5F7079"/>
                </a:solidFill>
              </a:rPr>
              <a:t>SwiGLU + RMSNorm</a:t>
            </a:r>
            <a:endParaRPr lang="en-US" sz="1100" dirty="0"/>
          </a:p>
        </p:txBody>
      </p:sp>
      <p:sp>
        <p:nvSpPr>
          <p:cNvPr id="10" name="Shape 8"/>
          <p:cNvSpPr/>
          <p:nvPr/>
        </p:nvSpPr>
        <p:spPr>
          <a:xfrm>
            <a:off x="5925312" y="2816352"/>
            <a:ext cx="292608" cy="0"/>
          </a:xfrm>
          <a:prstGeom prst="line">
            <a:avLst/>
          </a:prstGeom>
          <a:noFill/>
          <a:ln w="19050">
            <a:solidFill>
              <a:srgbClr val="9AA7B0"/>
            </a:solidFill>
            <a:prstDash val="solid"/>
            <a:tailEnd type="triangle"/>
          </a:ln>
        </p:spPr>
      </p:sp>
      <p:sp>
        <p:nvSpPr>
          <p:cNvPr id="11" name="arch-2"/>
          <p:cNvSpPr/>
          <p:nvPr/>
        </p:nvSpPr>
        <p:spPr>
          <a:xfrm>
            <a:off x="6272784" y="1463040"/>
            <a:ext cx="2468880" cy="2697480"/>
          </a:xfrm>
          <a:prstGeom prst="roundRect">
            <a:avLst>
              <a:gd name="adj" fmla="val 2963"/>
            </a:avLst>
          </a:prstGeom>
          <a:solidFill>
            <a:srgbClr val="F1F4F5"/>
          </a:solidFill>
          <a:ln w="9525">
            <a:solidFill>
              <a:srgbClr val="F1F4F5"/>
            </a:solidFill>
            <a:prstDash val="solid"/>
          </a:ln>
        </p:spPr>
      </p:sp>
      <p:sp>
        <p:nvSpPr>
          <p:cNvPr id="12" name="Text 10"/>
          <p:cNvSpPr txBox="1"/>
          <p:nvPr/>
        </p:nvSpPr>
        <p:spPr>
          <a:xfrm>
            <a:off x="6473952" y="1627632"/>
            <a:ext cx="2103120" cy="457200"/>
          </a:xfrm>
          <a:prstGeom prst="rect">
            <a:avLst/>
          </a:prstGeom>
          <a:noFill/>
          <a:ln/>
        </p:spPr>
        <p:txBody>
          <a:bodyPr wrap="square" lIns="0" tIns="0" rIns="0" bIns="0" rtlCol="0" anchor="t"/>
          <a:lstStyle/>
          <a:p>
            <a:pPr indent="0" marL="0">
              <a:buNone/>
            </a:pPr>
            <a:r>
              <a:rPr lang="en-US" sz="1500" b="1" dirty="0">
                <a:solidFill>
                  <a:srgbClr val="1A1F24"/>
                </a:solidFill>
              </a:rPr>
              <a:t>Patch merger</a:t>
            </a:r>
            <a:endParaRPr lang="en-US" sz="1500" dirty="0"/>
          </a:p>
        </p:txBody>
      </p:sp>
      <p:sp>
        <p:nvSpPr>
          <p:cNvPr id="13" name="Text 11"/>
          <p:cNvSpPr txBox="1"/>
          <p:nvPr/>
        </p:nvSpPr>
        <p:spPr>
          <a:xfrm>
            <a:off x="6473952" y="2121408"/>
            <a:ext cx="2103120" cy="23774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7079"/>
                </a:solidFill>
              </a:rPr>
              <a:t>Gộp 2×2 patch liền kề</a:t>
            </a:r>
            <a:endParaRPr lang="en-US" sz="1100" dirty="0"/>
          </a:p>
          <a:p>
            <a:pPr marL="342900" indent="-342900">
              <a:spcAft>
                <a:spcPts val="500"/>
              </a:spcAft>
              <a:buSzPct val="100000"/>
              <a:buChar char="•"/>
            </a:pPr>
            <a:r>
              <a:rPr lang="en-US" sz="1100" dirty="0">
                <a:solidFill>
                  <a:srgbClr val="5F7079"/>
                </a:solidFill>
              </a:rPr>
              <a:t>Qua MLP 2 lớp</a:t>
            </a:r>
            <a:endParaRPr lang="en-US" sz="1100" dirty="0"/>
          </a:p>
          <a:p>
            <a:pPr marL="342900" indent="-342900">
              <a:spcAft>
                <a:spcPts val="500"/>
              </a:spcAft>
              <a:buSzPct val="100000"/>
              <a:buChar char="•"/>
            </a:pPr>
            <a:r>
              <a:rPr lang="en-US" sz="1100" dirty="0">
                <a:solidFill>
                  <a:srgbClr val="5F7079"/>
                </a:solidFill>
              </a:rPr>
              <a:t>Số token giảm 4 lần</a:t>
            </a:r>
            <a:endParaRPr lang="en-US" sz="1100" dirty="0"/>
          </a:p>
          <a:p>
            <a:pPr marL="342900" indent="-342900">
              <a:spcAft>
                <a:spcPts val="500"/>
              </a:spcAft>
              <a:buSzPct val="100000"/>
              <a:buChar char="•"/>
            </a:pPr>
            <a:r>
              <a:rPr lang="en-US" sz="1100" dirty="0">
                <a:solidFill>
                  <a:srgbClr val="5F7079"/>
                </a:solidFill>
              </a:rPr>
              <a:t>1280 → 2048 chiều</a:t>
            </a:r>
            <a:endParaRPr lang="en-US" sz="1100" dirty="0"/>
          </a:p>
          <a:p>
            <a:pPr marL="342900" indent="-342900">
              <a:spcAft>
                <a:spcPts val="500"/>
              </a:spcAft>
              <a:buSzPct val="100000"/>
              <a:buChar char="•"/>
            </a:pPr>
            <a:r>
              <a:rPr lang="en-US" sz="1100" dirty="0">
                <a:solidFill>
                  <a:srgbClr val="5F7079"/>
                </a:solidFill>
              </a:rPr>
              <a:t>1 token phủ 28×28 px</a:t>
            </a:r>
            <a:endParaRPr lang="en-US" sz="1100" dirty="0"/>
          </a:p>
        </p:txBody>
      </p:sp>
      <p:sp>
        <p:nvSpPr>
          <p:cNvPr id="14" name="Shape 12"/>
          <p:cNvSpPr/>
          <p:nvPr/>
        </p:nvSpPr>
        <p:spPr>
          <a:xfrm>
            <a:off x="8787384" y="2816352"/>
            <a:ext cx="292608" cy="0"/>
          </a:xfrm>
          <a:prstGeom prst="line">
            <a:avLst/>
          </a:prstGeom>
          <a:noFill/>
          <a:ln w="19050">
            <a:solidFill>
              <a:srgbClr val="9AA7B0"/>
            </a:solidFill>
            <a:prstDash val="solid"/>
            <a:tailEnd type="triangle"/>
          </a:ln>
        </p:spPr>
      </p:sp>
      <p:sp>
        <p:nvSpPr>
          <p:cNvPr id="15" name="arch-3"/>
          <p:cNvSpPr/>
          <p:nvPr/>
        </p:nvSpPr>
        <p:spPr>
          <a:xfrm>
            <a:off x="9134856" y="1463040"/>
            <a:ext cx="2468880" cy="2697480"/>
          </a:xfrm>
          <a:prstGeom prst="roundRect">
            <a:avLst>
              <a:gd name="adj" fmla="val 2963"/>
            </a:avLst>
          </a:prstGeom>
          <a:solidFill>
            <a:srgbClr val="E3F8F2"/>
          </a:solidFill>
          <a:ln w="15875">
            <a:solidFill>
              <a:srgbClr val="02C39A"/>
            </a:solidFill>
            <a:prstDash val="solid"/>
          </a:ln>
        </p:spPr>
      </p:sp>
      <p:sp>
        <p:nvSpPr>
          <p:cNvPr id="16" name="Text 14"/>
          <p:cNvSpPr txBox="1"/>
          <p:nvPr/>
        </p:nvSpPr>
        <p:spPr>
          <a:xfrm>
            <a:off x="9336024" y="1627632"/>
            <a:ext cx="2103120" cy="457200"/>
          </a:xfrm>
          <a:prstGeom prst="rect">
            <a:avLst/>
          </a:prstGeom>
          <a:noFill/>
          <a:ln/>
        </p:spPr>
        <p:txBody>
          <a:bodyPr wrap="square" lIns="0" tIns="0" rIns="0" bIns="0" rtlCol="0" anchor="t"/>
          <a:lstStyle/>
          <a:p>
            <a:pPr indent="0" marL="0">
              <a:buNone/>
            </a:pPr>
            <a:r>
              <a:rPr lang="en-US" sz="1500" b="1" dirty="0">
                <a:solidFill>
                  <a:srgbClr val="1A1F24"/>
                </a:solidFill>
              </a:rPr>
              <a:t>Qwen2.5 LLM</a:t>
            </a:r>
            <a:endParaRPr lang="en-US" sz="1500" dirty="0"/>
          </a:p>
        </p:txBody>
      </p:sp>
      <p:sp>
        <p:nvSpPr>
          <p:cNvPr id="17" name="Text 15"/>
          <p:cNvSpPr txBox="1"/>
          <p:nvPr/>
        </p:nvSpPr>
        <p:spPr>
          <a:xfrm>
            <a:off x="9336024" y="2121408"/>
            <a:ext cx="2103120" cy="237744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5F7079"/>
                </a:solidFill>
              </a:rPr>
              <a:t>36 layer · hidden 2048</a:t>
            </a:r>
            <a:endParaRPr lang="en-US" sz="1100" dirty="0"/>
          </a:p>
          <a:p>
            <a:pPr marL="342900" indent="-342900">
              <a:spcAft>
                <a:spcPts val="500"/>
              </a:spcAft>
              <a:buSzPct val="100000"/>
              <a:buChar char="•"/>
            </a:pPr>
            <a:r>
              <a:rPr lang="en-US" sz="1100" dirty="0">
                <a:solidFill>
                  <a:srgbClr val="5F7079"/>
                </a:solidFill>
              </a:rPr>
              <a:t>GQA: 16 query, 2 KV head</a:t>
            </a:r>
            <a:endParaRPr lang="en-US" sz="1100" dirty="0"/>
          </a:p>
          <a:p>
            <a:pPr marL="342900" indent="-342900">
              <a:spcAft>
                <a:spcPts val="500"/>
              </a:spcAft>
              <a:buSzPct val="100000"/>
              <a:buChar char="•"/>
            </a:pPr>
            <a:r>
              <a:rPr lang="en-US" sz="1100" dirty="0">
                <a:solidFill>
                  <a:srgbClr val="5F7079"/>
                </a:solidFill>
              </a:rPr>
              <a:t>Vocab 151.936 · context 32k</a:t>
            </a:r>
            <a:endParaRPr lang="en-US" sz="1100" dirty="0"/>
          </a:p>
          <a:p>
            <a:pPr marL="342900" indent="-342900">
              <a:spcAft>
                <a:spcPts val="500"/>
              </a:spcAft>
              <a:buSzPct val="100000"/>
              <a:buChar char="•"/>
            </a:pPr>
            <a:r>
              <a:rPr lang="en-US" sz="1100" dirty="0">
                <a:solidFill>
                  <a:srgbClr val="5F7079"/>
                </a:solidFill>
              </a:rPr>
              <a:t>M-RoPE (thời gian, cao, rộng)</a:t>
            </a:r>
            <a:endParaRPr lang="en-US" sz="1100" dirty="0"/>
          </a:p>
          <a:p>
            <a:pPr marL="342900" indent="-342900">
              <a:spcAft>
                <a:spcPts val="500"/>
              </a:spcAft>
              <a:buSzPct val="100000"/>
              <a:buChar char="•"/>
            </a:pPr>
            <a:r>
              <a:rPr lang="en-US" sz="1100" dirty="0">
                <a:solidFill>
                  <a:srgbClr val="5F7079"/>
                </a:solidFill>
              </a:rPr>
              <a:t>Trục thời gian = giây thật</a:t>
            </a:r>
            <a:endParaRPr lang="en-US" sz="1100" dirty="0"/>
          </a:p>
        </p:txBody>
      </p:sp>
      <p:sp>
        <p:nvSpPr>
          <p:cNvPr id="18" name="arch-out"/>
          <p:cNvSpPr/>
          <p:nvPr/>
        </p:nvSpPr>
        <p:spPr>
          <a:xfrm>
            <a:off x="548640" y="4526280"/>
            <a:ext cx="11064240" cy="822960"/>
          </a:xfrm>
          <a:prstGeom prst="roundRect">
            <a:avLst>
              <a:gd name="adj" fmla="val 8889"/>
            </a:avLst>
          </a:prstGeom>
          <a:solidFill>
            <a:srgbClr val="FFFFFF"/>
          </a:solidFill>
          <a:ln w="15875">
            <a:solidFill>
              <a:srgbClr val="DCE3E6"/>
            </a:solidFill>
            <a:prstDash val="solid"/>
          </a:ln>
        </p:spPr>
      </p:sp>
      <p:sp>
        <p:nvSpPr>
          <p:cNvPr id="19" name="Text 17"/>
          <p:cNvSpPr txBox="1"/>
          <p:nvPr/>
        </p:nvSpPr>
        <p:spPr>
          <a:xfrm>
            <a:off x="822960" y="4526280"/>
            <a:ext cx="10515600" cy="822960"/>
          </a:xfrm>
          <a:prstGeom prst="rect">
            <a:avLst/>
          </a:prstGeom>
          <a:noFill/>
          <a:ln/>
        </p:spPr>
        <p:txBody>
          <a:bodyPr wrap="square" lIns="0" tIns="0" rIns="0" bIns="0" rtlCol="0" anchor="ctr"/>
          <a:lstStyle/>
          <a:p>
            <a:pPr indent="0" marL="0">
              <a:buNone/>
            </a:pPr>
            <a:r>
              <a:rPr lang="en-US" sz="1400" b="1" dirty="0">
                <a:solidFill>
                  <a:srgbClr val="1A1F24"/>
                </a:solidFill>
              </a:rPr>
              <a:t>Output — token văn bản:  </a:t>
            </a:r>
            <a:pPr indent="0" marL="0">
              <a:buNone/>
            </a:pPr>
            <a:r>
              <a:rPr lang="en-US" sz="1400" dirty="0">
                <a:solidFill>
                  <a:srgbClr val="5F7079"/>
                </a:solidFill>
              </a:rPr>
              <a:t>đáp án · toạ độ box dạng JSON · timestamp của sự kiện</a:t>
            </a:r>
            <a:endParaRPr lang="en-US" sz="1400" dirty="0"/>
          </a:p>
        </p:txBody>
      </p:sp>
      <p:sp>
        <p:nvSpPr>
          <p:cNvPr id="20" name="Text 18"/>
          <p:cNvSpPr txBox="1"/>
          <p:nvPr/>
        </p:nvSpPr>
        <p:spPr>
          <a:xfrm>
            <a:off x="548640" y="5577840"/>
            <a:ext cx="11064240" cy="292608"/>
          </a:xfrm>
          <a:prstGeom prst="rect">
            <a:avLst/>
          </a:prstGeom>
          <a:noFill/>
          <a:ln/>
        </p:spPr>
        <p:txBody>
          <a:bodyPr wrap="square" lIns="0" tIns="0" rIns="0" bIns="0" rtlCol="0" anchor="ctr"/>
          <a:lstStyle/>
          <a:p>
            <a:pPr indent="0" marL="0">
              <a:buNone/>
            </a:pPr>
            <a:r>
              <a:rPr lang="en-US" sz="1100" dirty="0">
                <a:solidFill>
                  <a:srgbClr val="AEB9C0"/>
                </a:solidFill>
              </a:rPr>
              <a:t>Tổng 3,75B tham số (ViT ~0,67B + LLM ~3,09B) — bf16 ≈ 7,5 GB · số liệu từ config.json</a:t>
            </a:r>
            <a:endParaRPr lang="en-US" sz="11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Ba điểm thiết kế đều phục vụ bài toán video</a:t>
            </a:r>
            <a:endParaRPr lang="en-US" sz="3200" dirty="0"/>
          </a:p>
        </p:txBody>
      </p:sp>
      <p:sp>
        <p:nvSpPr>
          <p:cNvPr id="3" name="design-0"/>
          <p:cNvSpPr/>
          <p:nvPr/>
        </p:nvSpPr>
        <p:spPr>
          <a:xfrm>
            <a:off x="548640" y="1508760"/>
            <a:ext cx="11064240" cy="1371600"/>
          </a:xfrm>
          <a:prstGeom prst="roundRect">
            <a:avLst>
              <a:gd name="adj" fmla="val 5333"/>
            </a:avLst>
          </a:prstGeom>
          <a:solidFill>
            <a:srgbClr val="FFFFFF"/>
          </a:solidFill>
          <a:ln w="15875">
            <a:solidFill>
              <a:srgbClr val="DCE3E6"/>
            </a:solidFill>
            <a:prstDash val="solid"/>
          </a:ln>
        </p:spPr>
      </p:sp>
      <p:sp>
        <p:nvSpPr>
          <p:cNvPr id="4" name="Shape 2"/>
          <p:cNvSpPr/>
          <p:nvPr/>
        </p:nvSpPr>
        <p:spPr>
          <a:xfrm>
            <a:off x="868680" y="1920240"/>
            <a:ext cx="548640" cy="548640"/>
          </a:xfrm>
          <a:prstGeom prst="ellipse">
            <a:avLst/>
          </a:prstGeom>
          <a:solidFill>
            <a:srgbClr val="02C39A"/>
          </a:solidFill>
          <a:ln/>
        </p:spPr>
      </p:sp>
      <p:sp>
        <p:nvSpPr>
          <p:cNvPr id="5" name="Text 3"/>
          <p:cNvSpPr txBox="1"/>
          <p:nvPr/>
        </p:nvSpPr>
        <p:spPr>
          <a:xfrm>
            <a:off x="868680" y="19202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1645920" y="1783080"/>
            <a:ext cx="9601200" cy="310896"/>
          </a:xfrm>
          <a:prstGeom prst="rect">
            <a:avLst/>
          </a:prstGeom>
          <a:noFill/>
          <a:ln/>
        </p:spPr>
        <p:txBody>
          <a:bodyPr wrap="square" lIns="0" tIns="0" rIns="0" bIns="0" rtlCol="0" anchor="ctr"/>
          <a:lstStyle/>
          <a:p>
            <a:pPr indent="0" marL="0">
              <a:buNone/>
            </a:pPr>
            <a:r>
              <a:rPr lang="en-US" sz="1700" b="1" dirty="0">
                <a:solidFill>
                  <a:srgbClr val="1A1F24"/>
                </a:solidFill>
              </a:rPr>
              <a:t>Native dynamic resolution</a:t>
            </a:r>
            <a:endParaRPr lang="en-US" sz="1700" dirty="0"/>
          </a:p>
        </p:txBody>
      </p:sp>
      <p:sp>
        <p:nvSpPr>
          <p:cNvPr id="7" name="Text 5"/>
          <p:cNvSpPr txBox="1"/>
          <p:nvPr/>
        </p:nvSpPr>
        <p:spPr>
          <a:xfrm>
            <a:off x="1645920" y="2167128"/>
            <a:ext cx="9601200" cy="640080"/>
          </a:xfrm>
          <a:prstGeom prst="rect">
            <a:avLst/>
          </a:prstGeom>
          <a:noFill/>
          <a:ln/>
        </p:spPr>
        <p:txBody>
          <a:bodyPr wrap="square" lIns="0" tIns="0" rIns="0" bIns="0" rtlCol="0" anchor="t"/>
          <a:lstStyle/>
          <a:p>
            <a:pPr indent="0" marL="0">
              <a:lnSpc>
                <a:spcPct val="115000"/>
              </a:lnSpc>
              <a:buNone/>
            </a:pPr>
            <a:r>
              <a:rPr lang="en-US" sz="1350" dirty="0">
                <a:solidFill>
                  <a:srgbClr val="5F7079"/>
                </a:solidFill>
              </a:rPr>
              <a:t>Ảnh không bị ép về một kích thước cố định, nên chữ nhỏ trong frame không bị nén mất. Đây là lý do model đọc được biển báo, phụ đề và số trên màn hình.</a:t>
            </a:r>
            <a:endParaRPr lang="en-US" sz="1350" dirty="0"/>
          </a:p>
        </p:txBody>
      </p:sp>
      <p:sp>
        <p:nvSpPr>
          <p:cNvPr id="8" name="design-1"/>
          <p:cNvSpPr/>
          <p:nvPr/>
        </p:nvSpPr>
        <p:spPr>
          <a:xfrm>
            <a:off x="548640" y="3108960"/>
            <a:ext cx="11064240" cy="1371600"/>
          </a:xfrm>
          <a:prstGeom prst="roundRect">
            <a:avLst>
              <a:gd name="adj" fmla="val 5333"/>
            </a:avLst>
          </a:prstGeom>
          <a:solidFill>
            <a:srgbClr val="FFFFFF"/>
          </a:solidFill>
          <a:ln w="15875">
            <a:solidFill>
              <a:srgbClr val="DCE3E6"/>
            </a:solidFill>
            <a:prstDash val="solid"/>
          </a:ln>
        </p:spPr>
      </p:sp>
      <p:sp>
        <p:nvSpPr>
          <p:cNvPr id="9" name="Shape 7"/>
          <p:cNvSpPr/>
          <p:nvPr/>
        </p:nvSpPr>
        <p:spPr>
          <a:xfrm>
            <a:off x="868680" y="3520440"/>
            <a:ext cx="548640" cy="548640"/>
          </a:xfrm>
          <a:prstGeom prst="ellipse">
            <a:avLst/>
          </a:prstGeom>
          <a:solidFill>
            <a:srgbClr val="02C39A"/>
          </a:solidFill>
          <a:ln/>
        </p:spPr>
      </p:sp>
      <p:sp>
        <p:nvSpPr>
          <p:cNvPr id="10" name="Text 8"/>
          <p:cNvSpPr txBox="1"/>
          <p:nvPr/>
        </p:nvSpPr>
        <p:spPr>
          <a:xfrm>
            <a:off x="868680" y="35204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1645920" y="3383280"/>
            <a:ext cx="9601200" cy="310896"/>
          </a:xfrm>
          <a:prstGeom prst="rect">
            <a:avLst/>
          </a:prstGeom>
          <a:noFill/>
          <a:ln/>
        </p:spPr>
        <p:txBody>
          <a:bodyPr wrap="square" lIns="0" tIns="0" rIns="0" bIns="0" rtlCol="0" anchor="ctr"/>
          <a:lstStyle/>
          <a:p>
            <a:pPr indent="0" marL="0">
              <a:buNone/>
            </a:pPr>
            <a:r>
              <a:rPr lang="en-US" sz="1700" b="1" dirty="0">
                <a:solidFill>
                  <a:srgbClr val="1A1F24"/>
                </a:solidFill>
              </a:rPr>
              <a:t>Window attention</a:t>
            </a:r>
            <a:endParaRPr lang="en-US" sz="1700" dirty="0"/>
          </a:p>
        </p:txBody>
      </p:sp>
      <p:sp>
        <p:nvSpPr>
          <p:cNvPr id="12" name="Text 10"/>
          <p:cNvSpPr txBox="1"/>
          <p:nvPr/>
        </p:nvSpPr>
        <p:spPr>
          <a:xfrm>
            <a:off x="1645920" y="3767328"/>
            <a:ext cx="9601200" cy="640080"/>
          </a:xfrm>
          <a:prstGeom prst="rect">
            <a:avLst/>
          </a:prstGeom>
          <a:noFill/>
          <a:ln/>
        </p:spPr>
        <p:txBody>
          <a:bodyPr wrap="square" lIns="0" tIns="0" rIns="0" bIns="0" rtlCol="0" anchor="t"/>
          <a:lstStyle/>
          <a:p>
            <a:pPr indent="0" marL="0">
              <a:lnSpc>
                <a:spcPct val="115000"/>
              </a:lnSpc>
              <a:buNone/>
            </a:pPr>
            <a:r>
              <a:rPr lang="en-US" sz="1350" dirty="0">
                <a:solidFill>
                  <a:srgbClr val="5F7079"/>
                </a:solidFill>
              </a:rPr>
              <a:t>28 trong 32 layer của ViT chỉ attend trong cửa sổ 112×112; chỉ 4 layer làm full attention. Nếu full attention ở mọi layer, chi phí tăng bình phương theo số patch và ảnh độ phân giải cao sẽ không chạy nổi.</a:t>
            </a:r>
            <a:endParaRPr lang="en-US" sz="1350" dirty="0"/>
          </a:p>
        </p:txBody>
      </p:sp>
      <p:sp>
        <p:nvSpPr>
          <p:cNvPr id="13" name="design-2"/>
          <p:cNvSpPr/>
          <p:nvPr/>
        </p:nvSpPr>
        <p:spPr>
          <a:xfrm>
            <a:off x="548640" y="4709160"/>
            <a:ext cx="11064240" cy="1371600"/>
          </a:xfrm>
          <a:prstGeom prst="roundRect">
            <a:avLst>
              <a:gd name="adj" fmla="val 5333"/>
            </a:avLst>
          </a:prstGeom>
          <a:solidFill>
            <a:srgbClr val="FFFFFF"/>
          </a:solidFill>
          <a:ln w="15875">
            <a:solidFill>
              <a:srgbClr val="DCE3E6"/>
            </a:solidFill>
            <a:prstDash val="solid"/>
          </a:ln>
        </p:spPr>
      </p:sp>
      <p:sp>
        <p:nvSpPr>
          <p:cNvPr id="14" name="Shape 12"/>
          <p:cNvSpPr/>
          <p:nvPr/>
        </p:nvSpPr>
        <p:spPr>
          <a:xfrm>
            <a:off x="868680" y="5120640"/>
            <a:ext cx="548640" cy="548640"/>
          </a:xfrm>
          <a:prstGeom prst="ellipse">
            <a:avLst/>
          </a:prstGeom>
          <a:solidFill>
            <a:srgbClr val="028090"/>
          </a:solidFill>
          <a:ln/>
        </p:spPr>
      </p:sp>
      <p:sp>
        <p:nvSpPr>
          <p:cNvPr id="15" name="Text 13"/>
          <p:cNvSpPr txBox="1"/>
          <p:nvPr/>
        </p:nvSpPr>
        <p:spPr>
          <a:xfrm>
            <a:off x="868680" y="51206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1645920" y="4983480"/>
            <a:ext cx="9601200" cy="310896"/>
          </a:xfrm>
          <a:prstGeom prst="rect">
            <a:avLst/>
          </a:prstGeom>
          <a:noFill/>
          <a:ln/>
        </p:spPr>
        <p:txBody>
          <a:bodyPr wrap="square" lIns="0" tIns="0" rIns="0" bIns="0" rtlCol="0" anchor="ctr"/>
          <a:lstStyle/>
          <a:p>
            <a:pPr indent="0" marL="0">
              <a:buNone/>
            </a:pPr>
            <a:r>
              <a:rPr lang="en-US" sz="1700" b="1" dirty="0">
                <a:solidFill>
                  <a:srgbClr val="1A1F24"/>
                </a:solidFill>
              </a:rPr>
              <a:t>M-RoPE theo thời gian tuyệt đối</a:t>
            </a:r>
            <a:endParaRPr lang="en-US" sz="1700" dirty="0"/>
          </a:p>
        </p:txBody>
      </p:sp>
      <p:sp>
        <p:nvSpPr>
          <p:cNvPr id="17" name="Text 15"/>
          <p:cNvSpPr txBox="1"/>
          <p:nvPr/>
        </p:nvSpPr>
        <p:spPr>
          <a:xfrm>
            <a:off x="1645920" y="5367528"/>
            <a:ext cx="9601200" cy="640080"/>
          </a:xfrm>
          <a:prstGeom prst="rect">
            <a:avLst/>
          </a:prstGeom>
          <a:noFill/>
          <a:ln/>
        </p:spPr>
        <p:txBody>
          <a:bodyPr wrap="square" lIns="0" tIns="0" rIns="0" bIns="0" rtlCol="0" anchor="t"/>
          <a:lstStyle/>
          <a:p>
            <a:pPr indent="0" marL="0">
              <a:lnSpc>
                <a:spcPct val="115000"/>
              </a:lnSpc>
              <a:buNone/>
            </a:pPr>
            <a:r>
              <a:rPr lang="en-US" sz="1350" dirty="0">
                <a:solidFill>
                  <a:srgbClr val="5F7079"/>
                </a:solidFill>
              </a:rPr>
              <a:t>Position embedding tách thành ba trục; trục thời gian gắn với giây thật chứ không phải chỉ số frame. Nhờ vậy model phân biệt được hai frame cách nhau 1 giây và hai frame cách nhau 1 phút.</a:t>
            </a:r>
            <a:endParaRPr lang="en-US" sz="135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698480" cy="1005840"/>
          </a:xfrm>
          <a:prstGeom prst="rect">
            <a:avLst/>
          </a:prstGeom>
          <a:noFill/>
          <a:ln/>
        </p:spPr>
        <p:txBody>
          <a:bodyPr wrap="square" rtlCol="0" anchor="ctr"/>
          <a:lstStyle/>
          <a:p>
            <a:pPr algn="l" indent="0" marL="0">
              <a:buNone/>
            </a:pPr>
            <a:r>
              <a:rPr lang="en-US" sz="4000" b="1" dirty="0">
                <a:solidFill>
                  <a:srgbClr val="FFFFFF"/>
                </a:solidFill>
              </a:rPr>
              <a:t>Qwen2.5-VL được train như thế nào</a:t>
            </a:r>
            <a:endParaRPr lang="en-US" sz="4000" dirty="0"/>
          </a:p>
        </p:txBody>
      </p:sp>
      <p:sp>
        <p:nvSpPr>
          <p:cNvPr id="3" name="Text 0"/>
          <p:cNvSpPr/>
          <p:nvPr>
            <p:ph idx="101" type="body" hasCustomPrompt="1"/>
          </p:nvPr>
        </p:nvSpPr>
        <p:spPr>
          <a:xfrm>
            <a:off x="731520" y="3794760"/>
            <a:ext cx="9144000" cy="731520"/>
          </a:xfrm>
          <a:prstGeom prst="rect">
            <a:avLst/>
          </a:prstGeom>
          <a:noFill/>
          <a:ln/>
        </p:spPr>
        <p:txBody>
          <a:bodyPr wrap="square" rtlCol="0" anchor="t"/>
          <a:lstStyle/>
          <a:p>
            <a:pPr algn="l" indent="0" marL="0">
              <a:buNone/>
            </a:pPr>
            <a:r>
              <a:rPr lang="en-US" sz="1600" dirty="0">
                <a:solidFill>
                  <a:srgbClr val="AEB9C0"/>
                </a:solidFill>
              </a:rPr>
              <a:t>4,1 nghìn tỷ token pre-training qua ba stage, rồi SFT và DPO</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Ba stage: mở dần các module, kéo dài dần context</a:t>
            </a:r>
            <a:endParaRPr lang="en-US" sz="3200" dirty="0"/>
          </a:p>
        </p:txBody>
      </p:sp>
      <p:sp>
        <p:nvSpPr>
          <p:cNvPr id="3" name="stage-pt-0"/>
          <p:cNvSpPr/>
          <p:nvPr/>
        </p:nvSpPr>
        <p:spPr>
          <a:xfrm>
            <a:off x="548640" y="1463040"/>
            <a:ext cx="3520440" cy="3566160"/>
          </a:xfrm>
          <a:prstGeom prst="roundRect">
            <a:avLst>
              <a:gd name="adj" fmla="val 2078"/>
            </a:avLst>
          </a:prstGeom>
          <a:solidFill>
            <a:srgbClr val="F1F4F5"/>
          </a:solidFill>
          <a:ln w="9525">
            <a:solidFill>
              <a:srgbClr val="F1F4F5"/>
            </a:solidFill>
            <a:prstDash val="solid"/>
          </a:ln>
        </p:spPr>
      </p:sp>
      <p:sp>
        <p:nvSpPr>
          <p:cNvPr id="4" name="Text 2"/>
          <p:cNvSpPr txBox="1"/>
          <p:nvPr/>
        </p:nvSpPr>
        <p:spPr>
          <a:xfrm>
            <a:off x="804672" y="1627632"/>
            <a:ext cx="3017520" cy="274320"/>
          </a:xfrm>
          <a:prstGeom prst="rect">
            <a:avLst/>
          </a:prstGeom>
          <a:noFill/>
          <a:ln/>
        </p:spPr>
        <p:txBody>
          <a:bodyPr wrap="square" lIns="0" tIns="0" rIns="0" bIns="0" rtlCol="0" anchor="ctr"/>
          <a:lstStyle/>
          <a:p>
            <a:pPr indent="0" marL="0">
              <a:buNone/>
            </a:pPr>
            <a:r>
              <a:rPr lang="en-US" sz="1100" b="1" spc="100" kern="0" dirty="0">
                <a:solidFill>
                  <a:srgbClr val="028090"/>
                </a:solidFill>
              </a:rPr>
              <a:t>Stage 1</a:t>
            </a:r>
            <a:endParaRPr lang="en-US" sz="1100" dirty="0"/>
          </a:p>
        </p:txBody>
      </p:sp>
      <p:sp>
        <p:nvSpPr>
          <p:cNvPr id="5" name="Text 3"/>
          <p:cNvSpPr txBox="1"/>
          <p:nvPr/>
        </p:nvSpPr>
        <p:spPr>
          <a:xfrm>
            <a:off x="804672" y="1920240"/>
            <a:ext cx="3017520" cy="502920"/>
          </a:xfrm>
          <a:prstGeom prst="rect">
            <a:avLst/>
          </a:prstGeom>
          <a:noFill/>
          <a:ln/>
        </p:spPr>
        <p:txBody>
          <a:bodyPr wrap="square" lIns="0" tIns="0" rIns="0" bIns="0" rtlCol="0" anchor="t"/>
          <a:lstStyle/>
          <a:p>
            <a:pPr indent="0" marL="0">
              <a:buNone/>
            </a:pPr>
            <a:r>
              <a:rPr lang="en-US" sz="1600" b="1" dirty="0">
                <a:solidFill>
                  <a:srgbClr val="1A1F24"/>
                </a:solidFill>
              </a:rPr>
              <a:t>Visual Pre-Training</a:t>
            </a:r>
            <a:endParaRPr lang="en-US" sz="1600" dirty="0"/>
          </a:p>
        </p:txBody>
      </p:sp>
      <p:sp>
        <p:nvSpPr>
          <p:cNvPr id="6" name="Text 4"/>
          <p:cNvSpPr txBox="1"/>
          <p:nvPr/>
        </p:nvSpPr>
        <p:spPr>
          <a:xfrm>
            <a:off x="804672" y="2487168"/>
            <a:ext cx="3017520" cy="685800"/>
          </a:xfrm>
          <a:prstGeom prst="rect">
            <a:avLst/>
          </a:prstGeom>
          <a:noFill/>
          <a:ln/>
        </p:spPr>
        <p:txBody>
          <a:bodyPr wrap="square" lIns="0" tIns="0" rIns="0" bIns="0" rtlCol="0" anchor="ctr"/>
          <a:lstStyle/>
          <a:p>
            <a:pPr indent="0" marL="0">
              <a:buNone/>
            </a:pPr>
            <a:r>
              <a:rPr lang="en-US" sz="4000" b="1" dirty="0">
                <a:solidFill>
                  <a:srgbClr val="02C39A"/>
                </a:solidFill>
              </a:rPr>
              <a:t>1,5T</a:t>
            </a:r>
            <a:endParaRPr lang="en-US" sz="4000" dirty="0"/>
          </a:p>
        </p:txBody>
      </p:sp>
      <p:sp>
        <p:nvSpPr>
          <p:cNvPr id="7" name="Text 5"/>
          <p:cNvSpPr txBox="1"/>
          <p:nvPr/>
        </p:nvSpPr>
        <p:spPr>
          <a:xfrm>
            <a:off x="804672" y="3172968"/>
            <a:ext cx="3017520" cy="256032"/>
          </a:xfrm>
          <a:prstGeom prst="rect">
            <a:avLst/>
          </a:prstGeom>
          <a:noFill/>
          <a:ln/>
        </p:spPr>
        <p:txBody>
          <a:bodyPr wrap="square" lIns="0" tIns="0" rIns="0" bIns="0" rtlCol="0" anchor="ctr"/>
          <a:lstStyle/>
          <a:p>
            <a:pPr indent="0" marL="0">
              <a:buNone/>
            </a:pPr>
            <a:r>
              <a:rPr lang="en-US" sz="1100" dirty="0">
                <a:solidFill>
                  <a:srgbClr val="5F7079"/>
                </a:solidFill>
              </a:rPr>
              <a:t>token</a:t>
            </a:r>
            <a:endParaRPr lang="en-US" sz="1100" dirty="0"/>
          </a:p>
        </p:txBody>
      </p:sp>
      <p:sp>
        <p:nvSpPr>
          <p:cNvPr id="8" name="Text 6"/>
          <p:cNvSpPr txBox="1"/>
          <p:nvPr/>
        </p:nvSpPr>
        <p:spPr>
          <a:xfrm>
            <a:off x="804672" y="3520440"/>
            <a:ext cx="3017520" cy="13258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5F7079"/>
                </a:solidFill>
              </a:rPr>
              <a:t>Chỉ ViT được train, LLM đóng băng</a:t>
            </a:r>
            <a:endParaRPr lang="en-US" sz="1150" dirty="0"/>
          </a:p>
          <a:p>
            <a:pPr marL="342900" indent="-342900">
              <a:spcAft>
                <a:spcPts val="500"/>
              </a:spcAft>
              <a:buSzPct val="100000"/>
              <a:buChar char="•"/>
            </a:pPr>
            <a:r>
              <a:rPr lang="en-US" sz="1150" dirty="0">
                <a:solidFill>
                  <a:srgbClr val="5F7079"/>
                </a:solidFill>
              </a:rPr>
              <a:t>Seq len 8.192</a:t>
            </a:r>
            <a:endParaRPr lang="en-US" sz="1150" dirty="0"/>
          </a:p>
          <a:p>
            <a:pPr marL="342900" indent="-342900">
              <a:spcAft>
                <a:spcPts val="500"/>
              </a:spcAft>
              <a:buSzPct val="100000"/>
              <a:buChar char="•"/>
            </a:pPr>
            <a:r>
              <a:rPr lang="en-US" sz="1150" dirty="0">
                <a:solidFill>
                  <a:srgbClr val="5F7079"/>
                </a:solidFill>
              </a:rPr>
              <a:t>Image–caption · OCR · knowledge</a:t>
            </a:r>
            <a:endParaRPr lang="en-US" sz="1150" dirty="0"/>
          </a:p>
        </p:txBody>
      </p:sp>
      <p:sp>
        <p:nvSpPr>
          <p:cNvPr id="9" name="Shape 7"/>
          <p:cNvSpPr/>
          <p:nvPr/>
        </p:nvSpPr>
        <p:spPr>
          <a:xfrm>
            <a:off x="4114800" y="3200400"/>
            <a:ext cx="201168" cy="0"/>
          </a:xfrm>
          <a:prstGeom prst="line">
            <a:avLst/>
          </a:prstGeom>
          <a:noFill/>
          <a:ln w="19050">
            <a:solidFill>
              <a:srgbClr val="9AA7B0"/>
            </a:solidFill>
            <a:prstDash val="solid"/>
            <a:tailEnd type="triangle"/>
          </a:ln>
        </p:spPr>
      </p:sp>
      <p:sp>
        <p:nvSpPr>
          <p:cNvPr id="10" name="stage-pt-1"/>
          <p:cNvSpPr/>
          <p:nvPr/>
        </p:nvSpPr>
        <p:spPr>
          <a:xfrm>
            <a:off x="4320540" y="1463040"/>
            <a:ext cx="3520440" cy="3566160"/>
          </a:xfrm>
          <a:prstGeom prst="roundRect">
            <a:avLst>
              <a:gd name="adj" fmla="val 2078"/>
            </a:avLst>
          </a:prstGeom>
          <a:solidFill>
            <a:srgbClr val="F1F4F5"/>
          </a:solidFill>
          <a:ln w="9525">
            <a:solidFill>
              <a:srgbClr val="F1F4F5"/>
            </a:solidFill>
            <a:prstDash val="solid"/>
          </a:ln>
        </p:spPr>
      </p:sp>
      <p:sp>
        <p:nvSpPr>
          <p:cNvPr id="11" name="Text 9"/>
          <p:cNvSpPr txBox="1"/>
          <p:nvPr/>
        </p:nvSpPr>
        <p:spPr>
          <a:xfrm>
            <a:off x="4576572" y="1627632"/>
            <a:ext cx="3017520" cy="274320"/>
          </a:xfrm>
          <a:prstGeom prst="rect">
            <a:avLst/>
          </a:prstGeom>
          <a:noFill/>
          <a:ln/>
        </p:spPr>
        <p:txBody>
          <a:bodyPr wrap="square" lIns="0" tIns="0" rIns="0" bIns="0" rtlCol="0" anchor="ctr"/>
          <a:lstStyle/>
          <a:p>
            <a:pPr indent="0" marL="0">
              <a:buNone/>
            </a:pPr>
            <a:r>
              <a:rPr lang="en-US" sz="1100" b="1" spc="100" kern="0" dirty="0">
                <a:solidFill>
                  <a:srgbClr val="028090"/>
                </a:solidFill>
              </a:rPr>
              <a:t>Stage 2</a:t>
            </a:r>
            <a:endParaRPr lang="en-US" sz="1100" dirty="0"/>
          </a:p>
        </p:txBody>
      </p:sp>
      <p:sp>
        <p:nvSpPr>
          <p:cNvPr id="12" name="Text 10"/>
          <p:cNvSpPr txBox="1"/>
          <p:nvPr/>
        </p:nvSpPr>
        <p:spPr>
          <a:xfrm>
            <a:off x="4576572" y="1920240"/>
            <a:ext cx="3017520" cy="502920"/>
          </a:xfrm>
          <a:prstGeom prst="rect">
            <a:avLst/>
          </a:prstGeom>
          <a:noFill/>
          <a:ln/>
        </p:spPr>
        <p:txBody>
          <a:bodyPr wrap="square" lIns="0" tIns="0" rIns="0" bIns="0" rtlCol="0" anchor="t"/>
          <a:lstStyle/>
          <a:p>
            <a:pPr indent="0" marL="0">
              <a:buNone/>
            </a:pPr>
            <a:r>
              <a:rPr lang="en-US" sz="1600" b="1" dirty="0">
                <a:solidFill>
                  <a:srgbClr val="1A1F24"/>
                </a:solidFill>
              </a:rPr>
              <a:t>Multimodal Pre-Training</a:t>
            </a:r>
            <a:endParaRPr lang="en-US" sz="1600" dirty="0"/>
          </a:p>
        </p:txBody>
      </p:sp>
      <p:sp>
        <p:nvSpPr>
          <p:cNvPr id="13" name="Text 11"/>
          <p:cNvSpPr txBox="1"/>
          <p:nvPr/>
        </p:nvSpPr>
        <p:spPr>
          <a:xfrm>
            <a:off x="4576572" y="2487168"/>
            <a:ext cx="3017520" cy="685800"/>
          </a:xfrm>
          <a:prstGeom prst="rect">
            <a:avLst/>
          </a:prstGeom>
          <a:noFill/>
          <a:ln/>
        </p:spPr>
        <p:txBody>
          <a:bodyPr wrap="square" lIns="0" tIns="0" rIns="0" bIns="0" rtlCol="0" anchor="ctr"/>
          <a:lstStyle/>
          <a:p>
            <a:pPr indent="0" marL="0">
              <a:buNone/>
            </a:pPr>
            <a:r>
              <a:rPr lang="en-US" sz="4000" b="1" dirty="0">
                <a:solidFill>
                  <a:srgbClr val="02C39A"/>
                </a:solidFill>
              </a:rPr>
              <a:t>2,0T</a:t>
            </a:r>
            <a:endParaRPr lang="en-US" sz="4000" dirty="0"/>
          </a:p>
        </p:txBody>
      </p:sp>
      <p:sp>
        <p:nvSpPr>
          <p:cNvPr id="14" name="Text 12"/>
          <p:cNvSpPr txBox="1"/>
          <p:nvPr/>
        </p:nvSpPr>
        <p:spPr>
          <a:xfrm>
            <a:off x="4576572" y="3172968"/>
            <a:ext cx="3017520" cy="256032"/>
          </a:xfrm>
          <a:prstGeom prst="rect">
            <a:avLst/>
          </a:prstGeom>
          <a:noFill/>
          <a:ln/>
        </p:spPr>
        <p:txBody>
          <a:bodyPr wrap="square" lIns="0" tIns="0" rIns="0" bIns="0" rtlCol="0" anchor="ctr"/>
          <a:lstStyle/>
          <a:p>
            <a:pPr indent="0" marL="0">
              <a:buNone/>
            </a:pPr>
            <a:r>
              <a:rPr lang="en-US" sz="1100" dirty="0">
                <a:solidFill>
                  <a:srgbClr val="5F7079"/>
                </a:solidFill>
              </a:rPr>
              <a:t>token</a:t>
            </a:r>
            <a:endParaRPr lang="en-US" sz="1100" dirty="0"/>
          </a:p>
        </p:txBody>
      </p:sp>
      <p:sp>
        <p:nvSpPr>
          <p:cNvPr id="15" name="Text 13"/>
          <p:cNvSpPr txBox="1"/>
          <p:nvPr/>
        </p:nvSpPr>
        <p:spPr>
          <a:xfrm>
            <a:off x="4576572" y="3520440"/>
            <a:ext cx="3017520" cy="13258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5F7079"/>
                </a:solidFill>
              </a:rPr>
              <a:t>Train toàn bộ: ViT + merger + LLM</a:t>
            </a:r>
            <a:endParaRPr lang="en-US" sz="1150" dirty="0"/>
          </a:p>
          <a:p>
            <a:pPr marL="342900" indent="-342900">
              <a:spcAft>
                <a:spcPts val="500"/>
              </a:spcAft>
              <a:buSzPct val="100000"/>
              <a:buChar char="•"/>
            </a:pPr>
            <a:r>
              <a:rPr lang="en-US" sz="1150" dirty="0">
                <a:solidFill>
                  <a:srgbClr val="5F7079"/>
                </a:solidFill>
              </a:rPr>
              <a:t>Seq len 8.192</a:t>
            </a:r>
            <a:endParaRPr lang="en-US" sz="1150" dirty="0"/>
          </a:p>
          <a:p>
            <a:pPr marL="342900" indent="-342900">
              <a:spcAft>
                <a:spcPts val="500"/>
              </a:spcAft>
              <a:buSzPct val="100000"/>
              <a:buChar char="•"/>
            </a:pPr>
            <a:r>
              <a:rPr lang="en-US" sz="1150" dirty="0">
                <a:solidFill>
                  <a:srgbClr val="5F7079"/>
                </a:solidFill>
              </a:rPr>
              <a:t>Interleaved image-text · VQA · grounding · video · agent</a:t>
            </a:r>
            <a:endParaRPr lang="en-US" sz="1150" dirty="0"/>
          </a:p>
        </p:txBody>
      </p:sp>
      <p:sp>
        <p:nvSpPr>
          <p:cNvPr id="16" name="Shape 14"/>
          <p:cNvSpPr/>
          <p:nvPr/>
        </p:nvSpPr>
        <p:spPr>
          <a:xfrm>
            <a:off x="7886700" y="3200400"/>
            <a:ext cx="201168" cy="0"/>
          </a:xfrm>
          <a:prstGeom prst="line">
            <a:avLst/>
          </a:prstGeom>
          <a:noFill/>
          <a:ln w="19050">
            <a:solidFill>
              <a:srgbClr val="9AA7B0"/>
            </a:solidFill>
            <a:prstDash val="solid"/>
            <a:tailEnd type="triangle"/>
          </a:ln>
        </p:spPr>
      </p:sp>
      <p:sp>
        <p:nvSpPr>
          <p:cNvPr id="17" name="stage-pt-2"/>
          <p:cNvSpPr/>
          <p:nvPr/>
        </p:nvSpPr>
        <p:spPr>
          <a:xfrm>
            <a:off x="8092440" y="1463040"/>
            <a:ext cx="3520440" cy="3566160"/>
          </a:xfrm>
          <a:prstGeom prst="roundRect">
            <a:avLst>
              <a:gd name="adj" fmla="val 2078"/>
            </a:avLst>
          </a:prstGeom>
          <a:solidFill>
            <a:srgbClr val="E3F8F2"/>
          </a:solidFill>
          <a:ln w="15875">
            <a:solidFill>
              <a:srgbClr val="02C39A"/>
            </a:solidFill>
            <a:prstDash val="solid"/>
          </a:ln>
        </p:spPr>
      </p:sp>
      <p:sp>
        <p:nvSpPr>
          <p:cNvPr id="18" name="Text 16"/>
          <p:cNvSpPr txBox="1"/>
          <p:nvPr/>
        </p:nvSpPr>
        <p:spPr>
          <a:xfrm>
            <a:off x="8348472" y="1627632"/>
            <a:ext cx="3017520" cy="274320"/>
          </a:xfrm>
          <a:prstGeom prst="rect">
            <a:avLst/>
          </a:prstGeom>
          <a:noFill/>
          <a:ln/>
        </p:spPr>
        <p:txBody>
          <a:bodyPr wrap="square" lIns="0" tIns="0" rIns="0" bIns="0" rtlCol="0" anchor="ctr"/>
          <a:lstStyle/>
          <a:p>
            <a:pPr indent="0" marL="0">
              <a:buNone/>
            </a:pPr>
            <a:r>
              <a:rPr lang="en-US" sz="1100" b="1" spc="100" kern="0" dirty="0">
                <a:solidFill>
                  <a:srgbClr val="028090"/>
                </a:solidFill>
              </a:rPr>
              <a:t>Stage 3</a:t>
            </a:r>
            <a:endParaRPr lang="en-US" sz="1100" dirty="0"/>
          </a:p>
        </p:txBody>
      </p:sp>
      <p:sp>
        <p:nvSpPr>
          <p:cNvPr id="19" name="Text 17"/>
          <p:cNvSpPr txBox="1"/>
          <p:nvPr/>
        </p:nvSpPr>
        <p:spPr>
          <a:xfrm>
            <a:off x="8348472" y="1920240"/>
            <a:ext cx="3017520" cy="502920"/>
          </a:xfrm>
          <a:prstGeom prst="rect">
            <a:avLst/>
          </a:prstGeom>
          <a:noFill/>
          <a:ln/>
        </p:spPr>
        <p:txBody>
          <a:bodyPr wrap="square" lIns="0" tIns="0" rIns="0" bIns="0" rtlCol="0" anchor="t"/>
          <a:lstStyle/>
          <a:p>
            <a:pPr indent="0" marL="0">
              <a:buNone/>
            </a:pPr>
            <a:r>
              <a:rPr lang="en-US" sz="1600" b="1" dirty="0">
                <a:solidFill>
                  <a:srgbClr val="1A1F24"/>
                </a:solidFill>
              </a:rPr>
              <a:t>Long-Context Pre-Training</a:t>
            </a:r>
            <a:endParaRPr lang="en-US" sz="1600" dirty="0"/>
          </a:p>
        </p:txBody>
      </p:sp>
      <p:sp>
        <p:nvSpPr>
          <p:cNvPr id="20" name="Text 18"/>
          <p:cNvSpPr txBox="1"/>
          <p:nvPr/>
        </p:nvSpPr>
        <p:spPr>
          <a:xfrm>
            <a:off x="8348472" y="2487168"/>
            <a:ext cx="3017520" cy="685800"/>
          </a:xfrm>
          <a:prstGeom prst="rect">
            <a:avLst/>
          </a:prstGeom>
          <a:noFill/>
          <a:ln/>
        </p:spPr>
        <p:txBody>
          <a:bodyPr wrap="square" lIns="0" tIns="0" rIns="0" bIns="0" rtlCol="0" anchor="ctr"/>
          <a:lstStyle/>
          <a:p>
            <a:pPr indent="0" marL="0">
              <a:buNone/>
            </a:pPr>
            <a:r>
              <a:rPr lang="en-US" sz="4000" b="1" dirty="0">
                <a:solidFill>
                  <a:srgbClr val="02C39A"/>
                </a:solidFill>
              </a:rPr>
              <a:t>0,6T</a:t>
            </a:r>
            <a:endParaRPr lang="en-US" sz="4000" dirty="0"/>
          </a:p>
        </p:txBody>
      </p:sp>
      <p:sp>
        <p:nvSpPr>
          <p:cNvPr id="21" name="Text 19"/>
          <p:cNvSpPr txBox="1"/>
          <p:nvPr/>
        </p:nvSpPr>
        <p:spPr>
          <a:xfrm>
            <a:off x="8348472" y="3172968"/>
            <a:ext cx="3017520" cy="256032"/>
          </a:xfrm>
          <a:prstGeom prst="rect">
            <a:avLst/>
          </a:prstGeom>
          <a:noFill/>
          <a:ln/>
        </p:spPr>
        <p:txBody>
          <a:bodyPr wrap="square" lIns="0" tIns="0" rIns="0" bIns="0" rtlCol="0" anchor="ctr"/>
          <a:lstStyle/>
          <a:p>
            <a:pPr indent="0" marL="0">
              <a:buNone/>
            </a:pPr>
            <a:r>
              <a:rPr lang="en-US" sz="1100" dirty="0">
                <a:solidFill>
                  <a:srgbClr val="5F7079"/>
                </a:solidFill>
              </a:rPr>
              <a:t>token</a:t>
            </a:r>
            <a:endParaRPr lang="en-US" sz="1100" dirty="0"/>
          </a:p>
        </p:txBody>
      </p:sp>
      <p:sp>
        <p:nvSpPr>
          <p:cNvPr id="22" name="Text 20"/>
          <p:cNvSpPr txBox="1"/>
          <p:nvPr/>
        </p:nvSpPr>
        <p:spPr>
          <a:xfrm>
            <a:off x="8348472" y="3520440"/>
            <a:ext cx="3017520" cy="132588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5F7079"/>
                </a:solidFill>
              </a:rPr>
              <a:t>Train toàn bộ</a:t>
            </a:r>
            <a:endParaRPr lang="en-US" sz="1150" dirty="0"/>
          </a:p>
          <a:p>
            <a:pPr marL="342900" indent="-342900">
              <a:spcAft>
                <a:spcPts val="500"/>
              </a:spcAft>
              <a:buSzPct val="100000"/>
              <a:buChar char="•"/>
            </a:pPr>
            <a:r>
              <a:rPr lang="en-US" sz="1150" dirty="0">
                <a:solidFill>
                  <a:srgbClr val="5F7079"/>
                </a:solidFill>
              </a:rPr>
              <a:t>Seq len 32.768</a:t>
            </a:r>
            <a:endParaRPr lang="en-US" sz="1150" dirty="0"/>
          </a:p>
          <a:p>
            <a:pPr marL="342900" indent="-342900">
              <a:spcAft>
                <a:spcPts val="500"/>
              </a:spcAft>
              <a:buSzPct val="100000"/>
              <a:buChar char="•"/>
            </a:pPr>
            <a:r>
              <a:rPr lang="en-US" sz="1150" dirty="0">
                <a:solidFill>
                  <a:srgbClr val="5F7079"/>
                </a:solidFill>
              </a:rPr>
              <a:t>Video dài · document dài · agent nhiều bước</a:t>
            </a:r>
            <a:endParaRPr lang="en-US" sz="1150" dirty="0"/>
          </a:p>
        </p:txBody>
      </p:sp>
      <p:sp>
        <p:nvSpPr>
          <p:cNvPr id="23" name="pt-note"/>
          <p:cNvSpPr/>
          <p:nvPr/>
        </p:nvSpPr>
        <p:spPr>
          <a:xfrm>
            <a:off x="548640" y="5257800"/>
            <a:ext cx="11064240" cy="685800"/>
          </a:xfrm>
          <a:prstGeom prst="roundRect">
            <a:avLst>
              <a:gd name="adj" fmla="val 10667"/>
            </a:avLst>
          </a:prstGeom>
          <a:solidFill>
            <a:srgbClr val="FFFFFF"/>
          </a:solidFill>
          <a:ln w="15875">
            <a:solidFill>
              <a:srgbClr val="DCE3E6"/>
            </a:solidFill>
            <a:prstDash val="solid"/>
          </a:ln>
        </p:spPr>
      </p:sp>
      <p:sp>
        <p:nvSpPr>
          <p:cNvPr id="24" name="Text 22"/>
          <p:cNvSpPr txBox="1"/>
          <p:nvPr/>
        </p:nvSpPr>
        <p:spPr>
          <a:xfrm>
            <a:off x="822960" y="5257800"/>
            <a:ext cx="10515600" cy="685800"/>
          </a:xfrm>
          <a:prstGeom prst="rect">
            <a:avLst/>
          </a:prstGeom>
          <a:noFill/>
          <a:ln/>
        </p:spPr>
        <p:txBody>
          <a:bodyPr wrap="square" lIns="0" tIns="0" rIns="0" bIns="0" rtlCol="0" anchor="ctr"/>
          <a:lstStyle/>
          <a:p>
            <a:pPr indent="0" marL="0">
              <a:buNone/>
            </a:pPr>
            <a:r>
              <a:rPr lang="en-US" sz="1300" b="1" dirty="0">
                <a:solidFill>
                  <a:srgbClr val="1A1F24"/>
                </a:solidFill>
              </a:rPr>
              <a:t>Trước stage 1:  </a:t>
            </a:r>
            <a:pPr indent="0" marL="0">
              <a:buNone/>
            </a:pPr>
            <a:r>
              <a:rPr lang="en-US" sz="1300" dirty="0">
                <a:solidFill>
                  <a:srgbClr val="5F7079"/>
                </a:solidFill>
              </a:rPr>
              <a:t>ViT được pre-train kiểu CLIP (image–text contrastive). Stage 1 đóng băng LLM để ViT học nói ngôn ngữ của LLM mà không làm hỏng năng lực ngôn ngữ đã có.</a:t>
            </a:r>
            <a:endParaRPr lang="en-US" sz="13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Post-training: SFT rồi DPO</a:t>
            </a:r>
            <a:endParaRPr lang="en-US" sz="3200" dirty="0"/>
          </a:p>
        </p:txBody>
      </p:sp>
      <p:sp>
        <p:nvSpPr>
          <p:cNvPr id="3" name="sft"/>
          <p:cNvSpPr/>
          <p:nvPr/>
        </p:nvSpPr>
        <p:spPr>
          <a:xfrm>
            <a:off x="548640" y="1463040"/>
            <a:ext cx="5349240" cy="2606040"/>
          </a:xfrm>
          <a:prstGeom prst="roundRect">
            <a:avLst>
              <a:gd name="adj" fmla="val 2807"/>
            </a:avLst>
          </a:prstGeom>
          <a:solidFill>
            <a:srgbClr val="F1F4F5"/>
          </a:solidFill>
          <a:ln w="9525">
            <a:solidFill>
              <a:srgbClr val="F1F4F5"/>
            </a:solidFill>
            <a:prstDash val="solid"/>
          </a:ln>
        </p:spPr>
      </p:sp>
      <p:sp>
        <p:nvSpPr>
          <p:cNvPr id="4" name="Text 2"/>
          <p:cNvSpPr txBox="1"/>
          <p:nvPr/>
        </p:nvSpPr>
        <p:spPr>
          <a:xfrm>
            <a:off x="822960" y="1645920"/>
            <a:ext cx="4754880" cy="411480"/>
          </a:xfrm>
          <a:prstGeom prst="rect">
            <a:avLst/>
          </a:prstGeom>
          <a:noFill/>
          <a:ln/>
        </p:spPr>
        <p:txBody>
          <a:bodyPr wrap="square" lIns="0" tIns="0" rIns="0" bIns="0" rtlCol="0" anchor="ctr"/>
          <a:lstStyle/>
          <a:p>
            <a:pPr indent="0" marL="0">
              <a:buNone/>
            </a:pPr>
            <a:r>
              <a:rPr lang="en-US" sz="2000" b="1" dirty="0">
                <a:solidFill>
                  <a:srgbClr val="1A1F24"/>
                </a:solidFill>
              </a:rPr>
              <a:t>SFT</a:t>
            </a:r>
            <a:endParaRPr lang="en-US" sz="2000" dirty="0"/>
          </a:p>
        </p:txBody>
      </p:sp>
      <p:sp>
        <p:nvSpPr>
          <p:cNvPr id="5" name="Text 3"/>
          <p:cNvSpPr txBox="1"/>
          <p:nvPr/>
        </p:nvSpPr>
        <p:spPr>
          <a:xfrm>
            <a:off x="822960" y="2148840"/>
            <a:ext cx="4800600" cy="19202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5F7079"/>
                </a:solidFill>
              </a:rPr>
              <a:t>~2 triệu sample, 50% text thuần / 50% multimodal</a:t>
            </a:r>
            <a:endParaRPr lang="en-US" sz="1300" dirty="0"/>
          </a:p>
          <a:p>
            <a:pPr marL="342900" indent="-342900">
              <a:spcAft>
                <a:spcPts val="700"/>
              </a:spcAft>
              <a:buSzPct val="100000"/>
              <a:buChar char="•"/>
            </a:pPr>
            <a:r>
              <a:rPr lang="en-US" sz="1300" dirty="0">
                <a:solidFill>
                  <a:srgbClr val="5F7079"/>
                </a:solidFill>
              </a:rPr>
              <a:t>Định dạng ChatML, sequence length 32k</a:t>
            </a:r>
            <a:endParaRPr lang="en-US" sz="1300" dirty="0"/>
          </a:p>
          <a:p>
            <a:pPr marL="342900" indent="-342900">
              <a:spcAft>
                <a:spcPts val="700"/>
              </a:spcAft>
              <a:buSzPct val="100000"/>
              <a:buChar char="•"/>
            </a:pPr>
            <a:r>
              <a:rPr lang="en-US" sz="1300" dirty="0">
                <a:solidFill>
                  <a:srgbClr val="5F7079"/>
                </a:solidFill>
              </a:rPr>
              <a:t>Lọc hai tầng: phân loại domain bằng Qwen2-VL-Instag (8 domain, 30 subcategory), rồi lọc rule-based và model-based</a:t>
            </a:r>
            <a:endParaRPr lang="en-US" sz="1300" dirty="0"/>
          </a:p>
          <a:p>
            <a:pPr marL="342900" indent="-342900">
              <a:spcAft>
                <a:spcPts val="700"/>
              </a:spcAft>
              <a:buSzPct val="100000"/>
              <a:buChar char="•"/>
            </a:pPr>
            <a:r>
              <a:rPr lang="en-US" sz="1300" dirty="0">
                <a:solidFill>
                  <a:srgbClr val="5F7079"/>
                </a:solidFill>
              </a:rPr>
              <a:t>Task reasoning dùng rejection sampling: sinh nhiều lời giải CoT, chỉ giữ lời giải có đáp án đúng</a:t>
            </a:r>
            <a:endParaRPr lang="en-US" sz="1300" dirty="0"/>
          </a:p>
        </p:txBody>
      </p:sp>
      <p:sp>
        <p:nvSpPr>
          <p:cNvPr id="6" name="dpo"/>
          <p:cNvSpPr/>
          <p:nvPr/>
        </p:nvSpPr>
        <p:spPr>
          <a:xfrm>
            <a:off x="6263640" y="1463040"/>
            <a:ext cx="5349240" cy="2606040"/>
          </a:xfrm>
          <a:prstGeom prst="roundRect">
            <a:avLst>
              <a:gd name="adj" fmla="val 2807"/>
            </a:avLst>
          </a:prstGeom>
          <a:solidFill>
            <a:srgbClr val="E3F8F2"/>
          </a:solidFill>
          <a:ln w="15875">
            <a:solidFill>
              <a:srgbClr val="02C39A"/>
            </a:solidFill>
            <a:prstDash val="solid"/>
          </a:ln>
        </p:spPr>
      </p:sp>
      <p:sp>
        <p:nvSpPr>
          <p:cNvPr id="7" name="Text 5"/>
          <p:cNvSpPr txBox="1"/>
          <p:nvPr/>
        </p:nvSpPr>
        <p:spPr>
          <a:xfrm>
            <a:off x="6537960" y="1645920"/>
            <a:ext cx="4754880" cy="411480"/>
          </a:xfrm>
          <a:prstGeom prst="rect">
            <a:avLst/>
          </a:prstGeom>
          <a:noFill/>
          <a:ln/>
        </p:spPr>
        <p:txBody>
          <a:bodyPr wrap="square" lIns="0" tIns="0" rIns="0" bIns="0" rtlCol="0" anchor="ctr"/>
          <a:lstStyle/>
          <a:p>
            <a:pPr indent="0" marL="0">
              <a:buNone/>
            </a:pPr>
            <a:r>
              <a:rPr lang="en-US" sz="2000" b="1" dirty="0">
                <a:solidFill>
                  <a:srgbClr val="1A1F24"/>
                </a:solidFill>
              </a:rPr>
              <a:t>DPO</a:t>
            </a:r>
            <a:endParaRPr lang="en-US" sz="2000" dirty="0"/>
          </a:p>
        </p:txBody>
      </p:sp>
      <p:sp>
        <p:nvSpPr>
          <p:cNvPr id="8" name="Text 6"/>
          <p:cNvSpPr txBox="1"/>
          <p:nvPr/>
        </p:nvSpPr>
        <p:spPr>
          <a:xfrm>
            <a:off x="6537960" y="2148840"/>
            <a:ext cx="4800600" cy="1920240"/>
          </a:xfrm>
          <a:prstGeom prst="rect">
            <a:avLst/>
          </a:prstGeom>
          <a:noFill/>
          <a:ln/>
        </p:spPr>
        <p:txBody>
          <a:bodyPr wrap="square" lIns="0" tIns="0" rIns="0" bIns="0" rtlCol="0" anchor="t"/>
          <a:lstStyle/>
          <a:p>
            <a:pPr marL="342900" indent="-342900">
              <a:spcAft>
                <a:spcPts val="700"/>
              </a:spcAft>
              <a:buSzPct val="100000"/>
              <a:buChar char="•"/>
            </a:pPr>
            <a:r>
              <a:rPr lang="en-US" sz="1300" dirty="0">
                <a:solidFill>
                  <a:srgbClr val="5F7079"/>
                </a:solidFill>
              </a:rPr>
              <a:t>Một pass trên dữ liệu preference</a:t>
            </a:r>
            <a:endParaRPr lang="en-US" sz="1300" dirty="0"/>
          </a:p>
          <a:p>
            <a:pPr marL="342900" indent="-342900">
              <a:spcAft>
                <a:spcPts val="700"/>
              </a:spcAft>
              <a:buSzPct val="100000"/>
              <a:buChar char="•"/>
            </a:pPr>
            <a:r>
              <a:rPr lang="en-US" sz="1300" dirty="0">
                <a:solidFill>
                  <a:srgbClr val="5F7079"/>
                </a:solidFill>
              </a:rPr>
              <a:t>Dữ liệu image-text và text thuần</a:t>
            </a:r>
            <a:endParaRPr lang="en-US" sz="1300" dirty="0"/>
          </a:p>
          <a:p>
            <a:pPr marL="342900" indent="-342900">
              <a:spcAft>
                <a:spcPts val="700"/>
              </a:spcAft>
              <a:buSzPct val="100000"/>
              <a:buChar char="•"/>
            </a:pPr>
            <a:r>
              <a:rPr lang="en-US" sz="1300" dirty="0">
                <a:solidFill>
                  <a:srgbClr val="5F7079"/>
                </a:solidFill>
              </a:rPr>
              <a:t>ViT đóng băng — để không làm lệch biểu diễn thị giác đã học được ở pre-training</a:t>
            </a:r>
            <a:endParaRPr lang="en-US" sz="1300" dirty="0"/>
          </a:p>
        </p:txBody>
      </p:sp>
      <p:sp>
        <p:nvSpPr>
          <p:cNvPr id="9" name="Text 7"/>
          <p:cNvSpPr txBox="1"/>
          <p:nvPr/>
        </p:nvSpPr>
        <p:spPr>
          <a:xfrm>
            <a:off x="548640" y="4343400"/>
            <a:ext cx="11064240" cy="320040"/>
          </a:xfrm>
          <a:prstGeom prst="rect">
            <a:avLst/>
          </a:prstGeom>
          <a:noFill/>
          <a:ln/>
        </p:spPr>
        <p:txBody>
          <a:bodyPr wrap="square" lIns="0" tIns="0" rIns="0" bIns="0" rtlCol="0" anchor="ctr"/>
          <a:lstStyle/>
          <a:p>
            <a:pPr indent="0" marL="0">
              <a:buNone/>
            </a:pPr>
            <a:r>
              <a:rPr lang="en-US" sz="1500" b="1" dirty="0">
                <a:solidFill>
                  <a:srgbClr val="1A1F24"/>
                </a:solidFill>
              </a:rPr>
              <a:t>Bốn loại dữ liệu liên quan trực tiếp đến bài toán của chúng ta</a:t>
            </a:r>
            <a:endParaRPr lang="en-US" sz="1500" dirty="0"/>
          </a:p>
        </p:txBody>
      </p:sp>
      <p:sp>
        <p:nvSpPr>
          <p:cNvPr id="10" name="data-0"/>
          <p:cNvSpPr/>
          <p:nvPr/>
        </p:nvSpPr>
        <p:spPr>
          <a:xfrm>
            <a:off x="548640" y="4754880"/>
            <a:ext cx="2651760" cy="1051560"/>
          </a:xfrm>
          <a:prstGeom prst="roundRect">
            <a:avLst>
              <a:gd name="adj" fmla="val 6957"/>
            </a:avLst>
          </a:prstGeom>
          <a:solidFill>
            <a:srgbClr val="FFFFFF"/>
          </a:solidFill>
          <a:ln w="15875">
            <a:solidFill>
              <a:srgbClr val="DCE3E6"/>
            </a:solidFill>
            <a:prstDash val="solid"/>
          </a:ln>
        </p:spPr>
      </p:sp>
      <p:sp>
        <p:nvSpPr>
          <p:cNvPr id="11" name="Text 9"/>
          <p:cNvSpPr txBox="1"/>
          <p:nvPr/>
        </p:nvSpPr>
        <p:spPr>
          <a:xfrm>
            <a:off x="731520" y="4882896"/>
            <a:ext cx="2286000" cy="274320"/>
          </a:xfrm>
          <a:prstGeom prst="rect">
            <a:avLst/>
          </a:prstGeom>
          <a:noFill/>
          <a:ln/>
        </p:spPr>
        <p:txBody>
          <a:bodyPr wrap="square" lIns="0" tIns="0" rIns="0" bIns="0" rtlCol="0" anchor="ctr"/>
          <a:lstStyle/>
          <a:p>
            <a:pPr indent="0" marL="0">
              <a:buNone/>
            </a:pPr>
            <a:r>
              <a:rPr lang="en-US" sz="1300" b="1" dirty="0">
                <a:solidFill>
                  <a:srgbClr val="028090"/>
                </a:solidFill>
              </a:rPr>
              <a:t>OCR đa ngữ</a:t>
            </a:r>
            <a:endParaRPr lang="en-US" sz="1300" dirty="0"/>
          </a:p>
        </p:txBody>
      </p:sp>
      <p:sp>
        <p:nvSpPr>
          <p:cNvPr id="12" name="Text 10"/>
          <p:cNvSpPr txBox="1"/>
          <p:nvPr/>
        </p:nvSpPr>
        <p:spPr>
          <a:xfrm>
            <a:off x="731520" y="5175504"/>
            <a:ext cx="2286000" cy="548640"/>
          </a:xfrm>
          <a:prstGeom prst="rect">
            <a:avLst/>
          </a:prstGeom>
          <a:noFill/>
          <a:ln/>
        </p:spPr>
        <p:txBody>
          <a:bodyPr wrap="square" lIns="0" tIns="0" rIns="0" bIns="0" rtlCol="0" anchor="ctr"/>
          <a:lstStyle/>
          <a:p>
            <a:pPr indent="0" marL="0">
              <a:buNone/>
            </a:pPr>
            <a:r>
              <a:rPr lang="en-US" sz="1100" dirty="0">
                <a:solidFill>
                  <a:srgbClr val="5F7079"/>
                </a:solidFill>
              </a:rPr>
              <a:t>12 ngôn ngữ, có tiếng Việt</a:t>
            </a:r>
            <a:endParaRPr lang="en-US" sz="1100" dirty="0"/>
          </a:p>
        </p:txBody>
      </p:sp>
      <p:sp>
        <p:nvSpPr>
          <p:cNvPr id="13" name="data-1"/>
          <p:cNvSpPr/>
          <p:nvPr/>
        </p:nvSpPr>
        <p:spPr>
          <a:xfrm>
            <a:off x="3355848" y="4754880"/>
            <a:ext cx="2651760" cy="1051560"/>
          </a:xfrm>
          <a:prstGeom prst="roundRect">
            <a:avLst>
              <a:gd name="adj" fmla="val 6957"/>
            </a:avLst>
          </a:prstGeom>
          <a:solidFill>
            <a:srgbClr val="FFFFFF"/>
          </a:solidFill>
          <a:ln w="15875">
            <a:solidFill>
              <a:srgbClr val="DCE3E6"/>
            </a:solidFill>
            <a:prstDash val="solid"/>
          </a:ln>
        </p:spPr>
      </p:sp>
      <p:sp>
        <p:nvSpPr>
          <p:cNvPr id="14" name="Text 12"/>
          <p:cNvSpPr txBox="1"/>
          <p:nvPr/>
        </p:nvSpPr>
        <p:spPr>
          <a:xfrm>
            <a:off x="3538728" y="4882896"/>
            <a:ext cx="2286000" cy="274320"/>
          </a:xfrm>
          <a:prstGeom prst="rect">
            <a:avLst/>
          </a:prstGeom>
          <a:noFill/>
          <a:ln/>
        </p:spPr>
        <p:txBody>
          <a:bodyPr wrap="square" lIns="0" tIns="0" rIns="0" bIns="0" rtlCol="0" anchor="ctr"/>
          <a:lstStyle/>
          <a:p>
            <a:pPr indent="0" marL="0">
              <a:buNone/>
            </a:pPr>
            <a:r>
              <a:rPr lang="en-US" sz="1300" b="1" dirty="0">
                <a:solidFill>
                  <a:srgbClr val="028090"/>
                </a:solidFill>
              </a:rPr>
              <a:t>Document parsing</a:t>
            </a:r>
            <a:endParaRPr lang="en-US" sz="1300" dirty="0"/>
          </a:p>
        </p:txBody>
      </p:sp>
      <p:sp>
        <p:nvSpPr>
          <p:cNvPr id="15" name="Text 13"/>
          <p:cNvSpPr txBox="1"/>
          <p:nvPr/>
        </p:nvSpPr>
        <p:spPr>
          <a:xfrm>
            <a:off x="3538728" y="5175504"/>
            <a:ext cx="2286000" cy="548640"/>
          </a:xfrm>
          <a:prstGeom prst="rect">
            <a:avLst/>
          </a:prstGeom>
          <a:noFill/>
          <a:ln/>
        </p:spPr>
        <p:txBody>
          <a:bodyPr wrap="square" lIns="0" tIns="0" rIns="0" bIns="0" rtlCol="0" anchor="ctr"/>
          <a:lstStyle/>
          <a:p>
            <a:pPr indent="0" marL="0">
              <a:buNone/>
            </a:pPr>
            <a:r>
              <a:rPr lang="en-US" sz="1100" dirty="0">
                <a:solidFill>
                  <a:srgbClr val="5F7079"/>
                </a:solidFill>
              </a:rPr>
              <a:t>HTML có layout, bảng, chart, công thức</a:t>
            </a:r>
            <a:endParaRPr lang="en-US" sz="1100" dirty="0"/>
          </a:p>
        </p:txBody>
      </p:sp>
      <p:sp>
        <p:nvSpPr>
          <p:cNvPr id="16" name="data-2"/>
          <p:cNvSpPr/>
          <p:nvPr/>
        </p:nvSpPr>
        <p:spPr>
          <a:xfrm>
            <a:off x="6163056" y="4754880"/>
            <a:ext cx="2651760" cy="1051560"/>
          </a:xfrm>
          <a:prstGeom prst="roundRect">
            <a:avLst>
              <a:gd name="adj" fmla="val 6957"/>
            </a:avLst>
          </a:prstGeom>
          <a:solidFill>
            <a:srgbClr val="FFFFFF"/>
          </a:solidFill>
          <a:ln w="15875">
            <a:solidFill>
              <a:srgbClr val="DCE3E6"/>
            </a:solidFill>
            <a:prstDash val="solid"/>
          </a:ln>
        </p:spPr>
      </p:sp>
      <p:sp>
        <p:nvSpPr>
          <p:cNvPr id="17" name="Text 15"/>
          <p:cNvSpPr txBox="1"/>
          <p:nvPr/>
        </p:nvSpPr>
        <p:spPr>
          <a:xfrm>
            <a:off x="6345936" y="4882896"/>
            <a:ext cx="2286000" cy="274320"/>
          </a:xfrm>
          <a:prstGeom prst="rect">
            <a:avLst/>
          </a:prstGeom>
          <a:noFill/>
          <a:ln/>
        </p:spPr>
        <p:txBody>
          <a:bodyPr wrap="square" lIns="0" tIns="0" rIns="0" bIns="0" rtlCol="0" anchor="ctr"/>
          <a:lstStyle/>
          <a:p>
            <a:pPr indent="0" marL="0">
              <a:buNone/>
            </a:pPr>
            <a:r>
              <a:rPr lang="en-US" sz="1300" b="1" dirty="0">
                <a:solidFill>
                  <a:srgbClr val="028090"/>
                </a:solidFill>
              </a:rPr>
              <a:t>Grounding</a:t>
            </a:r>
            <a:endParaRPr lang="en-US" sz="1300" dirty="0"/>
          </a:p>
        </p:txBody>
      </p:sp>
      <p:sp>
        <p:nvSpPr>
          <p:cNvPr id="18" name="Text 16"/>
          <p:cNvSpPr txBox="1"/>
          <p:nvPr/>
        </p:nvSpPr>
        <p:spPr>
          <a:xfrm>
            <a:off x="6345936" y="5175504"/>
            <a:ext cx="2286000" cy="548640"/>
          </a:xfrm>
          <a:prstGeom prst="rect">
            <a:avLst/>
          </a:prstGeom>
          <a:noFill/>
          <a:ln/>
        </p:spPr>
        <p:txBody>
          <a:bodyPr wrap="square" lIns="0" tIns="0" rIns="0" bIns="0" rtlCol="0" anchor="ctr"/>
          <a:lstStyle/>
          <a:p>
            <a:pPr indent="0" marL="0">
              <a:buNone/>
            </a:pPr>
            <a:r>
              <a:rPr lang="en-US" sz="1100" dirty="0">
                <a:solidFill>
                  <a:srgbClr val="5F7079"/>
                </a:solidFill>
              </a:rPr>
              <a:t>Toạ độ tuyệt đối, box và point dạng JSON</a:t>
            </a:r>
            <a:endParaRPr lang="en-US" sz="1100" dirty="0"/>
          </a:p>
        </p:txBody>
      </p:sp>
      <p:sp>
        <p:nvSpPr>
          <p:cNvPr id="19" name="data-3"/>
          <p:cNvSpPr/>
          <p:nvPr/>
        </p:nvSpPr>
        <p:spPr>
          <a:xfrm>
            <a:off x="8970264" y="4754880"/>
            <a:ext cx="2651760" cy="1051560"/>
          </a:xfrm>
          <a:prstGeom prst="roundRect">
            <a:avLst>
              <a:gd name="adj" fmla="val 6957"/>
            </a:avLst>
          </a:prstGeom>
          <a:solidFill>
            <a:srgbClr val="FFFFFF"/>
          </a:solidFill>
          <a:ln w="15875">
            <a:solidFill>
              <a:srgbClr val="DCE3E6"/>
            </a:solidFill>
            <a:prstDash val="solid"/>
          </a:ln>
        </p:spPr>
      </p:sp>
      <p:sp>
        <p:nvSpPr>
          <p:cNvPr id="20" name="Text 18"/>
          <p:cNvSpPr txBox="1"/>
          <p:nvPr/>
        </p:nvSpPr>
        <p:spPr>
          <a:xfrm>
            <a:off x="9153144" y="4882896"/>
            <a:ext cx="2286000" cy="274320"/>
          </a:xfrm>
          <a:prstGeom prst="rect">
            <a:avLst/>
          </a:prstGeom>
          <a:noFill/>
          <a:ln/>
        </p:spPr>
        <p:txBody>
          <a:bodyPr wrap="square" lIns="0" tIns="0" rIns="0" bIns="0" rtlCol="0" anchor="ctr"/>
          <a:lstStyle/>
          <a:p>
            <a:pPr indent="0" marL="0">
              <a:buNone/>
            </a:pPr>
            <a:r>
              <a:rPr lang="en-US" sz="1300" b="1" dirty="0">
                <a:solidFill>
                  <a:srgbClr val="028090"/>
                </a:solidFill>
              </a:rPr>
              <a:t>Video</a:t>
            </a:r>
            <a:endParaRPr lang="en-US" sz="1300" dirty="0"/>
          </a:p>
        </p:txBody>
      </p:sp>
      <p:sp>
        <p:nvSpPr>
          <p:cNvPr id="21" name="Text 19"/>
          <p:cNvSpPr txBox="1"/>
          <p:nvPr/>
        </p:nvSpPr>
        <p:spPr>
          <a:xfrm>
            <a:off x="9153144" y="5175504"/>
            <a:ext cx="2286000" cy="548640"/>
          </a:xfrm>
          <a:prstGeom prst="rect">
            <a:avLst/>
          </a:prstGeom>
          <a:noFill/>
          <a:ln/>
        </p:spPr>
        <p:txBody>
          <a:bodyPr wrap="square" lIns="0" tIns="0" rIns="0" bIns="0" rtlCol="0" anchor="ctr"/>
          <a:lstStyle/>
          <a:p>
            <a:pPr indent="0" marL="0">
              <a:buNone/>
            </a:pPr>
            <a:r>
              <a:rPr lang="en-US" sz="1100" dirty="0">
                <a:solidFill>
                  <a:srgbClr val="5F7079"/>
                </a:solidFill>
              </a:rPr>
              <a:t>Dynamic FPS + timestamp ở mức giây</a:t>
            </a:r>
            <a:endParaRPr lang="en-US" sz="11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Bản 3B bám sát bản 7B trên benchmark ảnh</a:t>
            </a:r>
            <a:endParaRPr lang="en-US" sz="3200" dirty="0"/>
          </a:p>
        </p:txBody>
      </p:sp>
      <p:graphicFrame>
        <p:nvGraphicFramePr>
          <p:cNvPr id="3" name="Chart 0" descr=""/>
          <p:cNvGraphicFramePr/>
          <p:nvPr/>
        </p:nvGraphicFramePr>
        <p:xfrm>
          <a:off x="365760" y="1371600"/>
          <a:ext cx="7589520" cy="4206240"/>
        </p:xfrm>
        <a:graphic xmlns:a="http://schemas.openxmlformats.org/drawingml/2006/main">
          <a:graphicData uri="http://schemas.openxmlformats.org/drawingml/2006/chart">
            <c:chart xmlns:c="http://schemas.openxmlformats.org/drawingml/2006/chart" r:id="rId1"/>
          </a:graphicData>
        </a:graphic>
      </p:graphicFrame>
      <p:sp>
        <p:nvSpPr>
          <p:cNvPr id="4" name="bench-note"/>
          <p:cNvSpPr/>
          <p:nvPr/>
        </p:nvSpPr>
        <p:spPr>
          <a:xfrm>
            <a:off x="8183880" y="1371600"/>
            <a:ext cx="3429000" cy="4206240"/>
          </a:xfrm>
          <a:prstGeom prst="roundRect">
            <a:avLst>
              <a:gd name="adj" fmla="val 2133"/>
            </a:avLst>
          </a:prstGeom>
          <a:solidFill>
            <a:srgbClr val="F1F4F5"/>
          </a:solidFill>
          <a:ln w="9525">
            <a:solidFill>
              <a:srgbClr val="F1F4F5"/>
            </a:solidFill>
            <a:prstDash val="solid"/>
          </a:ln>
        </p:spPr>
      </p:sp>
      <p:sp>
        <p:nvSpPr>
          <p:cNvPr id="5" name="Text 2"/>
          <p:cNvSpPr txBox="1"/>
          <p:nvPr/>
        </p:nvSpPr>
        <p:spPr>
          <a:xfrm>
            <a:off x="8412480" y="1572768"/>
            <a:ext cx="2971800" cy="320040"/>
          </a:xfrm>
          <a:prstGeom prst="rect">
            <a:avLst/>
          </a:prstGeom>
          <a:noFill/>
          <a:ln/>
        </p:spPr>
        <p:txBody>
          <a:bodyPr wrap="square" lIns="0" tIns="0" rIns="0" bIns="0" rtlCol="0" anchor="ctr"/>
          <a:lstStyle/>
          <a:p>
            <a:pPr indent="0" marL="0">
              <a:buNone/>
            </a:pPr>
            <a:r>
              <a:rPr lang="en-US" sz="1500" b="1" dirty="0">
                <a:solidFill>
                  <a:srgbClr val="1A1F24"/>
                </a:solidFill>
              </a:rPr>
              <a:t>Đọc bảng này thế nào</a:t>
            </a:r>
            <a:endParaRPr lang="en-US" sz="1500" dirty="0"/>
          </a:p>
        </p:txBody>
      </p:sp>
      <p:sp>
        <p:nvSpPr>
          <p:cNvPr id="6" name="Text 3"/>
          <p:cNvSpPr txBox="1"/>
          <p:nvPr/>
        </p:nvSpPr>
        <p:spPr>
          <a:xfrm>
            <a:off x="8412480" y="2011680"/>
            <a:ext cx="2971800" cy="3429000"/>
          </a:xfrm>
          <a:prstGeom prst="rect">
            <a:avLst/>
          </a:prstGeom>
          <a:noFill/>
          <a:ln/>
        </p:spPr>
        <p:txBody>
          <a:bodyPr wrap="square" lIns="0" tIns="0" rIns="0" bIns="0" rtlCol="0" anchor="t"/>
          <a:lstStyle/>
          <a:p>
            <a:pPr indent="0" marL="0">
              <a:spcAft>
                <a:spcPts val="1000"/>
              </a:spcAft>
              <a:buNone/>
            </a:pPr>
            <a:r>
              <a:rPr lang="en-US" sz="1250" dirty="0">
                <a:solidFill>
                  <a:srgbClr val="5F7079"/>
                </a:solidFill>
              </a:rPr>
              <a:t>DocVQA và InfoVQA là hai benchmark đọc tài liệu — gần nhất với việc đọc chữ trong frame. Bản 3B ngang hoặc hơn bản 7B ở đây.</a:t>
            </a:r>
            <a:endParaRPr lang="en-US" sz="1250" dirty="0"/>
          </a:p>
          <a:p>
            <a:pPr indent="0" marL="0">
              <a:spcAft>
                <a:spcPts val="1000"/>
              </a:spcAft>
              <a:buNone/>
            </a:pPr>
            <a:r>
              <a:rPr lang="en-US" sz="1250" dirty="0">
                <a:solidFill>
                  <a:srgbClr val="5F7079"/>
                </a:solidFill>
              </a:rPr>
              <a:t>MathVista: 3B hơn 7B 4,1 điểm.</a:t>
            </a:r>
            <a:endParaRPr lang="en-US" sz="1250" dirty="0"/>
          </a:p>
          <a:p>
            <a:pPr indent="0" marL="0">
              <a:spcAft>
                <a:spcPts val="1000"/>
              </a:spcAft>
              <a:buNone/>
            </a:pPr>
            <a:r>
              <a:rPr lang="en-US" sz="1250" dirty="0">
                <a:solidFill>
                  <a:srgbClr val="5F7079"/>
                </a:solidFill>
              </a:rPr>
              <a:t>TextVQA: 3B hụt 5,0 điểm. MMStar: hụt 4,8 điểm. Nếu pipeline phụ thuộc nhiều vào chữ nhỏ trong ảnh thì OCR engine ngoài vẫn cần.</a:t>
            </a:r>
            <a:endParaRPr lang="en-US" sz="1250" dirty="0"/>
          </a:p>
          <a:p>
            <a:pPr indent="0" marL="0">
              <a:spcAft>
                <a:spcPts val="1000"/>
              </a:spcAft>
              <a:buNone/>
            </a:pPr>
            <a:r>
              <a:rPr lang="en-US" sz="1250" dirty="0">
                <a:solidFill>
                  <a:srgbClr val="5F7079"/>
                </a:solidFill>
              </a:rPr>
              <a:t>Số của mình đo lại sẽ thấp hơn bảng này — khác prompt, khác số frame, khác cách lấy đáp án.</a:t>
            </a:r>
            <a:endParaRPr lang="en-US" sz="1250" dirty="0"/>
          </a:p>
        </p:txBody>
      </p:sp>
      <p:sp>
        <p:nvSpPr>
          <p:cNvPr id="7" name="Text 4"/>
          <p:cNvSpPr txBox="1"/>
          <p:nvPr/>
        </p:nvSpPr>
        <p:spPr>
          <a:xfrm>
            <a:off x="548640" y="5715000"/>
            <a:ext cx="11064240" cy="274320"/>
          </a:xfrm>
          <a:prstGeom prst="rect">
            <a:avLst/>
          </a:prstGeom>
          <a:noFill/>
          <a:ln/>
        </p:spPr>
        <p:txBody>
          <a:bodyPr wrap="square" lIns="0" tIns="0" rIns="0" bIns="0" rtlCol="0" anchor="ctr"/>
          <a:lstStyle/>
          <a:p>
            <a:pPr indent="0" marL="0">
              <a:buNone/>
            </a:pPr>
            <a:r>
              <a:rPr lang="en-US" sz="1000" dirty="0">
                <a:solidFill>
                  <a:srgbClr val="AEB9C0"/>
                </a:solidFill>
              </a:rPr>
              <a:t>Accuracy (%) trên benchmark ảnh · nguồn: model card Qwen2.5-VL-3B-Instruct, không phải số đo lại</a:t>
            </a:r>
            <a:endParaRPr lang="en-US" sz="10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Chọn 3B vì chạy được, không vì nó mạnh nhất</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560320"/>
                <a:gridCol w="1280160"/>
                <a:gridCol w="1463040"/>
                <a:gridCol w="1828800"/>
                <a:gridCol w="2468880"/>
                <a:gridCol w="1463040"/>
              </a:tblGrid>
              <a:tr h="475488">
                <a:tc>
                  <a:txBody>
                    <a:bodyPr/>
                    <a:lstStyle/>
                    <a:p>
                      <a:pPr algn="l" indent="0" marL="0">
                        <a:buNone/>
                      </a:pPr>
                      <a:r>
                        <a:rPr lang="en-US" sz="1250" b="1" dirty="0">
                          <a:solidFill>
                            <a:srgbClr val="FFFFFF"/>
                          </a:solidFill>
                        </a:rPr>
                        <a:t>Model</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Tham số</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Weight bf16</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Context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Hỗ trợ video</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License</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r>
              <a:tr h="475488">
                <a:tc>
                  <a:txBody>
                    <a:bodyPr/>
                    <a:lstStyle/>
                    <a:p>
                      <a:pPr algn="l" indent="0" marL="0">
                        <a:buNone/>
                      </a:pPr>
                      <a:r>
                        <a:rPr lang="en-US" sz="1250" b="1" dirty="0">
                          <a:solidFill>
                            <a:srgbClr val="1A1F24"/>
                          </a:solidFill>
                        </a:rPr>
                        <a:t>Qwen2.5-VL-3B-Instruct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E3F8F2"/>
                    </a:solidFill>
                  </a:tcPr>
                </a:tc>
                <a:tc>
                  <a:txBody>
                    <a:bodyPr/>
                    <a:lstStyle/>
                    <a:p>
                      <a:pPr algn="l" indent="0" marL="0">
                        <a:buNone/>
                      </a:pPr>
                      <a:r>
                        <a:rPr lang="en-US" sz="1250" dirty="0">
                          <a:solidFill>
                            <a:srgbClr val="1A1F24"/>
                          </a:solidFill>
                        </a:rPr>
                        <a:t>3,75B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E3F8F2"/>
                    </a:solidFill>
                  </a:tcPr>
                </a:tc>
                <a:tc>
                  <a:txBody>
                    <a:bodyPr/>
                    <a:lstStyle/>
                    <a:p>
                      <a:pPr algn="l" indent="0" marL="0">
                        <a:buNone/>
                      </a:pPr>
                      <a:r>
                        <a:rPr lang="en-US" sz="1250" dirty="0">
                          <a:solidFill>
                            <a:srgbClr val="1A1F24"/>
                          </a:solidFill>
                        </a:rPr>
                        <a:t>7,5 GB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E3F8F2"/>
                    </a:solidFill>
                  </a:tcPr>
                </a:tc>
                <a:tc>
                  <a:txBody>
                    <a:bodyPr/>
                    <a:lstStyle/>
                    <a:p>
                      <a:pPr algn="l" indent="0" marL="0">
                        <a:buNone/>
                      </a:pPr>
                      <a:r>
                        <a:rPr lang="en-US" sz="1250" dirty="0">
                          <a:solidFill>
                            <a:srgbClr val="1A1F24"/>
                          </a:solidFill>
                        </a:rPr>
                        <a:t>32k (nới 64k+)</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E3F8F2"/>
                    </a:solidFill>
                  </a:tcPr>
                </a:tc>
                <a:tc>
                  <a:txBody>
                    <a:bodyPr/>
                    <a:lstStyle/>
                    <a:p>
                      <a:pPr algn="l" indent="0" marL="0">
                        <a:buNone/>
                      </a:pPr>
                      <a:r>
                        <a:rPr lang="en-US" sz="1250" dirty="0">
                          <a:solidFill>
                            <a:srgbClr val="1A1F24"/>
                          </a:solidFill>
                        </a:rPr>
                        <a:t>dynamic FPS + absolute time</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E3F8F2"/>
                    </a:solidFill>
                  </a:tcPr>
                </a:tc>
                <a:tc>
                  <a:txBody>
                    <a:bodyPr/>
                    <a:lstStyle/>
                    <a:p>
                      <a:pPr algn="l" indent="0" marL="0">
                        <a:buNone/>
                      </a:pPr>
                      <a:r>
                        <a:rPr lang="en-US" sz="1250" dirty="0">
                          <a:solidFill>
                            <a:srgbClr val="1A1F24"/>
                          </a:solidFill>
                        </a:rPr>
                        <a:t>qwen-research</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E3F8F2"/>
                    </a:solidFill>
                  </a:tcPr>
                </a:tc>
              </a:tr>
              <a:tr h="475488">
                <a:tc>
                  <a:txBody>
                    <a:bodyPr/>
                    <a:lstStyle/>
                    <a:p>
                      <a:pPr algn="l" indent="0" marL="0">
                        <a:buNone/>
                      </a:pPr>
                      <a:r>
                        <a:rPr lang="en-US" sz="1250" dirty="0">
                          <a:solidFill>
                            <a:srgbClr val="5F7079"/>
                          </a:solidFill>
                        </a:rPr>
                        <a:t>Qwen2.5-VL-7B-Instruct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8,3B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16,6 GB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32k</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dynamic FPS + absolute time</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Apache-2.0</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r>
              <a:tr h="475488">
                <a:tc>
                  <a:txBody>
                    <a:bodyPr/>
                    <a:lstStyle/>
                    <a:p>
                      <a:pPr algn="l" indent="0" marL="0">
                        <a:buNone/>
                      </a:pPr>
                      <a:r>
                        <a:rPr lang="en-US" sz="1250" dirty="0">
                          <a:solidFill>
                            <a:srgbClr val="5F7079"/>
                          </a:solidFill>
                        </a:rPr>
                        <a:t>SmolVLM2-2.2B-Instruct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2,2B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4,5 GB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16k</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multi-frame cơ bản</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Apache-2.0</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r>
              <a:tr h="475488">
                <a:tc>
                  <a:txBody>
                    <a:bodyPr/>
                    <a:lstStyle/>
                    <a:p>
                      <a:pPr algn="l" indent="0" marL="0">
                        <a:buNone/>
                      </a:pPr>
                      <a:r>
                        <a:rPr lang="en-US" sz="1250" dirty="0">
                          <a:solidFill>
                            <a:srgbClr val="5F7079"/>
                          </a:solidFill>
                        </a:rPr>
                        <a:t>InternVL2.5-4B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4B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8 GB</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16k</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multi-frame</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MIT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r>
            </a:tbl>
          </a:graphicData>
        </a:graphic>
      </p:graphicFrame>
      <p:sp>
        <p:nvSpPr>
          <p:cNvPr id="4" name="license-note"/>
          <p:cNvSpPr/>
          <p:nvPr/>
        </p:nvSpPr>
        <p:spPr>
          <a:xfrm>
            <a:off x="548640" y="4206240"/>
            <a:ext cx="5349240" cy="1645920"/>
          </a:xfrm>
          <a:prstGeom prst="roundRect">
            <a:avLst>
              <a:gd name="adj" fmla="val 4444"/>
            </a:avLst>
          </a:prstGeom>
          <a:solidFill>
            <a:srgbClr val="FFFFFF"/>
          </a:solidFill>
          <a:ln w="15875">
            <a:solidFill>
              <a:srgbClr val="F96167"/>
            </a:solidFill>
            <a:prstDash val="solid"/>
          </a:ln>
        </p:spPr>
      </p:sp>
      <p:sp>
        <p:nvSpPr>
          <p:cNvPr id="5" name="Text 2"/>
          <p:cNvSpPr txBox="1"/>
          <p:nvPr/>
        </p:nvSpPr>
        <p:spPr>
          <a:xfrm>
            <a:off x="822960" y="4389120"/>
            <a:ext cx="4800600" cy="320040"/>
          </a:xfrm>
          <a:prstGeom prst="rect">
            <a:avLst/>
          </a:prstGeom>
          <a:noFill/>
          <a:ln/>
        </p:spPr>
        <p:txBody>
          <a:bodyPr wrap="square" lIns="0" tIns="0" rIns="0" bIns="0" rtlCol="0" anchor="ctr"/>
          <a:lstStyle/>
          <a:p>
            <a:pPr indent="0" marL="0">
              <a:buNone/>
            </a:pPr>
            <a:r>
              <a:rPr lang="en-US" sz="1400" b="1" dirty="0">
                <a:solidFill>
                  <a:srgbClr val="F96167"/>
                </a:solidFill>
              </a:rPr>
              <a:t>Điểm phải nói thật nếu bị hỏi</a:t>
            </a:r>
            <a:endParaRPr lang="en-US" sz="1400" dirty="0"/>
          </a:p>
        </p:txBody>
      </p:sp>
      <p:sp>
        <p:nvSpPr>
          <p:cNvPr id="6" name="Text 3"/>
          <p:cNvSpPr txBox="1"/>
          <p:nvPr/>
        </p:nvSpPr>
        <p:spPr>
          <a:xfrm>
            <a:off x="822960" y="4754880"/>
            <a:ext cx="4800600" cy="914400"/>
          </a:xfrm>
          <a:prstGeom prst="rect">
            <a:avLst/>
          </a:prstGeom>
          <a:noFill/>
          <a:ln/>
        </p:spPr>
        <p:txBody>
          <a:bodyPr wrap="square" lIns="0" tIns="0" rIns="0" bIns="0" rtlCol="0" anchor="t"/>
          <a:lstStyle/>
          <a:p>
            <a:pPr indent="0" marL="0">
              <a:buNone/>
            </a:pPr>
            <a:r>
              <a:rPr lang="en-US" sz="1300" dirty="0">
                <a:solidFill>
                  <a:srgbClr val="5F7079"/>
                </a:solidFill>
              </a:rPr>
              <a:t>Qwen2.5-VL-3B phát hành dưới license qwen-research, không phải Apache-2.0. Dùng cho đồ án và nghiên cứu thì ổn; thương mại hoá phải chuyển sang bản 7B.</a:t>
            </a:r>
            <a:endParaRPr lang="en-US" sz="1300" dirty="0"/>
          </a:p>
        </p:txBody>
      </p:sp>
      <p:sp>
        <p:nvSpPr>
          <p:cNvPr id="7" name="smol-note"/>
          <p:cNvSpPr/>
          <p:nvPr/>
        </p:nvSpPr>
        <p:spPr>
          <a:xfrm>
            <a:off x="6263640" y="4206240"/>
            <a:ext cx="5349240" cy="1645920"/>
          </a:xfrm>
          <a:prstGeom prst="roundRect">
            <a:avLst>
              <a:gd name="adj" fmla="val 4444"/>
            </a:avLst>
          </a:prstGeom>
          <a:solidFill>
            <a:srgbClr val="F1F4F5"/>
          </a:solidFill>
          <a:ln w="9525">
            <a:solidFill>
              <a:srgbClr val="F1F4F5"/>
            </a:solidFill>
            <a:prstDash val="solid"/>
          </a:ln>
        </p:spPr>
      </p:sp>
      <p:sp>
        <p:nvSpPr>
          <p:cNvPr id="8" name="Text 5"/>
          <p:cNvSpPr txBox="1"/>
          <p:nvPr/>
        </p:nvSpPr>
        <p:spPr>
          <a:xfrm>
            <a:off x="6537960" y="4389120"/>
            <a:ext cx="4800600" cy="320040"/>
          </a:xfrm>
          <a:prstGeom prst="rect">
            <a:avLst/>
          </a:prstGeom>
          <a:noFill/>
          <a:ln/>
        </p:spPr>
        <p:txBody>
          <a:bodyPr wrap="square" lIns="0" tIns="0" rIns="0" bIns="0" rtlCol="0" anchor="ctr"/>
          <a:lstStyle/>
          <a:p>
            <a:pPr indent="0" marL="0">
              <a:buNone/>
            </a:pPr>
            <a:r>
              <a:rPr lang="en-US" sz="1400" b="1" dirty="0">
                <a:solidFill>
                  <a:srgbClr val="1A1F24"/>
                </a:solidFill>
              </a:rPr>
              <a:t>Còn SmolVLM2 thì sao</a:t>
            </a:r>
            <a:endParaRPr lang="en-US" sz="1400" dirty="0"/>
          </a:p>
        </p:txBody>
      </p:sp>
      <p:sp>
        <p:nvSpPr>
          <p:cNvPr id="9" name="Text 6"/>
          <p:cNvSpPr txBox="1"/>
          <p:nvPr/>
        </p:nvSpPr>
        <p:spPr>
          <a:xfrm>
            <a:off x="6537960" y="4754880"/>
            <a:ext cx="4800600" cy="914400"/>
          </a:xfrm>
          <a:prstGeom prst="rect">
            <a:avLst/>
          </a:prstGeom>
          <a:noFill/>
          <a:ln/>
        </p:spPr>
        <p:txBody>
          <a:bodyPr wrap="square" lIns="0" tIns="0" rIns="0" bIns="0" rtlCol="0" anchor="t"/>
          <a:lstStyle/>
          <a:p>
            <a:pPr indent="0" marL="0">
              <a:buNone/>
            </a:pPr>
            <a:r>
              <a:rPr lang="en-US" sz="1300" dirty="0">
                <a:solidFill>
                  <a:srgbClr val="5F7079"/>
                </a:solidFill>
              </a:rPr>
              <a:t>Nhẹ hơn một nửa, nhưng yếu ở đúng ba thứ pipeline cần: đọc chữ trong ảnh, giữ thứ tự thời gian, và trả lời đúng định dạng. Nên nhắc nó như baseline nhẹ, không phải lựa chọn chính.</a:t>
            </a:r>
            <a:endParaRPr lang="en-US" sz="13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731520" y="2743200"/>
            <a:ext cx="10698480" cy="1005840"/>
          </a:xfrm>
          <a:prstGeom prst="rect">
            <a:avLst/>
          </a:prstGeom>
          <a:noFill/>
          <a:ln/>
        </p:spPr>
        <p:txBody>
          <a:bodyPr wrap="square" rtlCol="0" anchor="ctr"/>
          <a:lstStyle/>
          <a:p>
            <a:pPr algn="l" indent="0" marL="0">
              <a:buNone/>
            </a:pPr>
            <a:r>
              <a:rPr lang="en-US" sz="4000" b="1" dirty="0">
                <a:solidFill>
                  <a:srgbClr val="FFFFFF"/>
                </a:solidFill>
              </a:rPr>
              <a:t>Đánh giá VLM như thế nào</a:t>
            </a:r>
            <a:endParaRPr lang="en-US" sz="4000" dirty="0"/>
          </a:p>
        </p:txBody>
      </p:sp>
      <p:sp>
        <p:nvSpPr>
          <p:cNvPr id="3" name="Text 0"/>
          <p:cNvSpPr/>
          <p:nvPr>
            <p:ph idx="101" type="body" hasCustomPrompt="1"/>
          </p:nvPr>
        </p:nvSpPr>
        <p:spPr>
          <a:xfrm>
            <a:off x="731520" y="3794760"/>
            <a:ext cx="9144000" cy="731520"/>
          </a:xfrm>
          <a:prstGeom prst="rect">
            <a:avLst/>
          </a:prstGeom>
          <a:noFill/>
          <a:ln/>
        </p:spPr>
        <p:txBody>
          <a:bodyPr wrap="square" rtlCol="0" anchor="t"/>
          <a:lstStyle/>
          <a:p>
            <a:pPr algn="l" indent="0" marL="0">
              <a:buNone/>
            </a:pPr>
            <a:r>
              <a:rPr lang="en-US" sz="1600" dirty="0">
                <a:solidFill>
                  <a:srgbClr val="AEB9C0"/>
                </a:solidFill>
              </a:rPr>
              <a:t>Phần nghiên cứu — một con số accuracy cuối pipeline không nói được gì về VLM</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Tách lỗi retrieval khỏi lỗi reasoning</a:t>
            </a:r>
            <a:endParaRPr lang="en-US" sz="3200" dirty="0"/>
          </a:p>
        </p:txBody>
      </p:sp>
      <p:sp>
        <p:nvSpPr>
          <p:cNvPr id="3" name="formula"/>
          <p:cNvSpPr/>
          <p:nvPr/>
        </p:nvSpPr>
        <p:spPr>
          <a:xfrm>
            <a:off x="548640" y="1417320"/>
            <a:ext cx="11064240" cy="868680"/>
          </a:xfrm>
          <a:prstGeom prst="roundRect">
            <a:avLst>
              <a:gd name="adj" fmla="val 8421"/>
            </a:avLst>
          </a:prstGeom>
          <a:solidFill>
            <a:srgbClr val="1A1F24"/>
          </a:solidFill>
          <a:ln w="15875">
            <a:solidFill>
              <a:srgbClr val="1A1F24"/>
            </a:solidFill>
            <a:prstDash val="solid"/>
          </a:ln>
        </p:spPr>
      </p:sp>
      <p:sp>
        <p:nvSpPr>
          <p:cNvPr id="4" name="Text 2"/>
          <p:cNvSpPr txBox="1"/>
          <p:nvPr/>
        </p:nvSpPr>
        <p:spPr>
          <a:xfrm>
            <a:off x="914400" y="1417320"/>
            <a:ext cx="10332720" cy="868680"/>
          </a:xfrm>
          <a:prstGeom prst="rect">
            <a:avLst/>
          </a:prstGeom>
          <a:noFill/>
          <a:ln/>
        </p:spPr>
        <p:txBody>
          <a:bodyPr wrap="square" lIns="0" tIns="0" rIns="0" bIns="0" rtlCol="0" anchor="ctr"/>
          <a:lstStyle/>
          <a:p>
            <a:pPr indent="0" marL="0">
              <a:buNone/>
            </a:pPr>
            <a:r>
              <a:rPr lang="en-US" sz="2200" b="1" dirty="0">
                <a:solidFill>
                  <a:srgbClr val="FFFFFF"/>
                </a:solidFill>
              </a:rPr>
              <a:t>Acc</a:t>
            </a:r>
            <a:pPr indent="0" marL="0">
              <a:buNone/>
            </a:pPr>
            <a:r>
              <a:rPr lang="en-US" sz="2200" b="1" baseline="-40000" dirty="0">
                <a:solidFill>
                  <a:srgbClr val="02C39A"/>
                </a:solidFill>
              </a:rPr>
              <a:t>e2e</a:t>
            </a:r>
            <a:pPr indent="0" marL="0">
              <a:buNone/>
            </a:pPr>
            <a:r>
              <a:rPr lang="en-US" sz="2200" b="1" dirty="0">
                <a:solidFill>
                  <a:srgbClr val="FFFFFF"/>
                </a:solidFill>
              </a:rPr>
              <a:t>  =  r · Acc</a:t>
            </a:r>
            <a:pPr indent="0" marL="0">
              <a:buNone/>
            </a:pPr>
            <a:r>
              <a:rPr lang="en-US" sz="2200" b="1" baseline="-40000" dirty="0">
                <a:solidFill>
                  <a:srgbClr val="02C39A"/>
                </a:solidFill>
              </a:rPr>
              <a:t>VLM | hit</a:t>
            </a:r>
            <a:pPr indent="0" marL="0">
              <a:buNone/>
            </a:pPr>
            <a:r>
              <a:rPr lang="en-US" sz="2200" b="1" dirty="0">
                <a:solidFill>
                  <a:srgbClr val="FFFFFF"/>
                </a:solidFill>
              </a:rPr>
              <a:t>  +  (1 − r) · Acc</a:t>
            </a:r>
            <a:pPr indent="0" marL="0">
              <a:buNone/>
            </a:pPr>
            <a:r>
              <a:rPr lang="en-US" sz="2200" b="1" baseline="-40000" dirty="0">
                <a:solidFill>
                  <a:srgbClr val="02C39A"/>
                </a:solidFill>
              </a:rPr>
              <a:t>VLM | miss</a:t>
            </a:r>
            <a:endParaRPr lang="en-US" sz="2200" dirty="0"/>
          </a:p>
        </p:txBody>
      </p:sp>
      <p:sp>
        <p:nvSpPr>
          <p:cNvPr id="5" name="Text 3"/>
          <p:cNvSpPr txBox="1"/>
          <p:nvPr/>
        </p:nvSpPr>
        <p:spPr>
          <a:xfrm>
            <a:off x="548640" y="2377440"/>
            <a:ext cx="11064240" cy="274320"/>
          </a:xfrm>
          <a:prstGeom prst="rect">
            <a:avLst/>
          </a:prstGeom>
          <a:noFill/>
          <a:ln/>
        </p:spPr>
        <p:txBody>
          <a:bodyPr wrap="square" lIns="0" tIns="0" rIns="0" bIns="0" rtlCol="0" anchor="ctr"/>
          <a:lstStyle/>
          <a:p>
            <a:pPr indent="0" marL="0">
              <a:buNone/>
            </a:pPr>
            <a:r>
              <a:rPr lang="en-US" sz="1200" i="1" dirty="0">
                <a:solidFill>
                  <a:srgbClr val="5F7079"/>
                </a:solidFill>
              </a:rPr>
              <a:t>r = Recall@K của retrieval — tỉ lệ câu hỏi mà top-K có chứa frame chứa câu trả lời</a:t>
            </a:r>
            <a:endParaRPr lang="en-US" sz="1200" dirty="0"/>
          </a:p>
        </p:txBody>
      </p:sp>
      <p:sp>
        <p:nvSpPr>
          <p:cNvPr id="6" name="metric-0"/>
          <p:cNvSpPr/>
          <p:nvPr/>
        </p:nvSpPr>
        <p:spPr>
          <a:xfrm>
            <a:off x="548640" y="2834640"/>
            <a:ext cx="3520440" cy="1691640"/>
          </a:xfrm>
          <a:prstGeom prst="roundRect">
            <a:avLst>
              <a:gd name="adj" fmla="val 4324"/>
            </a:avLst>
          </a:prstGeom>
          <a:solidFill>
            <a:srgbClr val="F1F4F5"/>
          </a:solidFill>
          <a:ln w="9525">
            <a:solidFill>
              <a:srgbClr val="F1F4F5"/>
            </a:solidFill>
            <a:prstDash val="solid"/>
          </a:ln>
        </p:spPr>
      </p:sp>
      <p:sp>
        <p:nvSpPr>
          <p:cNvPr id="7" name="Text 5"/>
          <p:cNvSpPr txBox="1"/>
          <p:nvPr/>
        </p:nvSpPr>
        <p:spPr>
          <a:xfrm>
            <a:off x="804672" y="3017520"/>
            <a:ext cx="3017520" cy="365760"/>
          </a:xfrm>
          <a:prstGeom prst="rect">
            <a:avLst/>
          </a:prstGeom>
          <a:noFill/>
          <a:ln/>
        </p:spPr>
        <p:txBody>
          <a:bodyPr wrap="square" lIns="0" tIns="0" rIns="0" bIns="0" rtlCol="0" anchor="ctr"/>
          <a:lstStyle/>
          <a:p>
            <a:pPr indent="0" marL="0">
              <a:buNone/>
            </a:pPr>
            <a:r>
              <a:rPr lang="en-US" sz="1600" b="1" dirty="0">
                <a:solidFill>
                  <a:srgbClr val="1A1F24"/>
                </a:solidFill>
              </a:rPr>
              <a:t>Recall@K</a:t>
            </a:r>
            <a:endParaRPr lang="en-US" sz="1600" dirty="0"/>
          </a:p>
        </p:txBody>
      </p:sp>
      <p:sp>
        <p:nvSpPr>
          <p:cNvPr id="8" name="Text 6"/>
          <p:cNvSpPr txBox="1"/>
          <p:nvPr/>
        </p:nvSpPr>
        <p:spPr>
          <a:xfrm>
            <a:off x="804672" y="3401568"/>
            <a:ext cx="3017520" cy="274320"/>
          </a:xfrm>
          <a:prstGeom prst="rect">
            <a:avLst/>
          </a:prstGeom>
          <a:noFill/>
          <a:ln/>
        </p:spPr>
        <p:txBody>
          <a:bodyPr wrap="square" lIns="0" tIns="0" rIns="0" bIns="0" rtlCol="0" anchor="ctr"/>
          <a:lstStyle/>
          <a:p>
            <a:pPr indent="0" marL="0">
              <a:buNone/>
            </a:pPr>
            <a:r>
              <a:rPr lang="en-US" sz="1200" b="1" dirty="0">
                <a:solidFill>
                  <a:srgbClr val="028090"/>
                </a:solidFill>
              </a:rPr>
              <a:t>Chất lượng retrieval</a:t>
            </a:r>
            <a:endParaRPr lang="en-US" sz="1200" dirty="0"/>
          </a:p>
        </p:txBody>
      </p:sp>
      <p:sp>
        <p:nvSpPr>
          <p:cNvPr id="9" name="Text 7"/>
          <p:cNvSpPr txBox="1"/>
          <p:nvPr/>
        </p:nvSpPr>
        <p:spPr>
          <a:xfrm>
            <a:off x="804672" y="3712464"/>
            <a:ext cx="3017520" cy="685800"/>
          </a:xfrm>
          <a:prstGeom prst="rect">
            <a:avLst/>
          </a:prstGeom>
          <a:noFill/>
          <a:ln/>
        </p:spPr>
        <p:txBody>
          <a:bodyPr wrap="square" lIns="0" tIns="0" rIns="0" bIns="0" rtlCol="0" anchor="t"/>
          <a:lstStyle/>
          <a:p>
            <a:pPr indent="0" marL="0">
              <a:buNone/>
            </a:pPr>
            <a:r>
              <a:rPr lang="en-US" sz="1200" dirty="0">
                <a:solidFill>
                  <a:srgbClr val="5F7079"/>
                </a:solidFill>
              </a:rPr>
              <a:t>Cần annotation frame hoặc đoạn chứa đáp án</a:t>
            </a:r>
            <a:endParaRPr lang="en-US" sz="1200" dirty="0"/>
          </a:p>
        </p:txBody>
      </p:sp>
      <p:sp>
        <p:nvSpPr>
          <p:cNvPr id="10" name="metric-1"/>
          <p:cNvSpPr/>
          <p:nvPr/>
        </p:nvSpPr>
        <p:spPr>
          <a:xfrm>
            <a:off x="4320540" y="2834640"/>
            <a:ext cx="3520440" cy="1691640"/>
          </a:xfrm>
          <a:prstGeom prst="roundRect">
            <a:avLst>
              <a:gd name="adj" fmla="val 4324"/>
            </a:avLst>
          </a:prstGeom>
          <a:solidFill>
            <a:srgbClr val="E3F8F2"/>
          </a:solidFill>
          <a:ln w="15875">
            <a:solidFill>
              <a:srgbClr val="02C39A"/>
            </a:solidFill>
            <a:prstDash val="solid"/>
          </a:ln>
        </p:spPr>
      </p:sp>
      <p:sp>
        <p:nvSpPr>
          <p:cNvPr id="11" name="Text 9"/>
          <p:cNvSpPr txBox="1"/>
          <p:nvPr/>
        </p:nvSpPr>
        <p:spPr>
          <a:xfrm>
            <a:off x="4576572" y="3017520"/>
            <a:ext cx="3017520" cy="365760"/>
          </a:xfrm>
          <a:prstGeom prst="rect">
            <a:avLst/>
          </a:prstGeom>
          <a:noFill/>
          <a:ln/>
        </p:spPr>
        <p:txBody>
          <a:bodyPr wrap="square" lIns="0" tIns="0" rIns="0" bIns="0" rtlCol="0" anchor="ctr"/>
          <a:lstStyle/>
          <a:p>
            <a:pPr indent="0" marL="0">
              <a:buNone/>
            </a:pPr>
            <a:r>
              <a:rPr lang="en-US" sz="1600" b="1" dirty="0">
                <a:solidFill>
                  <a:srgbClr val="1A1F24"/>
                </a:solidFill>
              </a:rPr>
              <a:t>Oracle accuracy</a:t>
            </a:r>
            <a:endParaRPr lang="en-US" sz="1600" dirty="0"/>
          </a:p>
        </p:txBody>
      </p:sp>
      <p:sp>
        <p:nvSpPr>
          <p:cNvPr id="12" name="Text 10"/>
          <p:cNvSpPr txBox="1"/>
          <p:nvPr/>
        </p:nvSpPr>
        <p:spPr>
          <a:xfrm>
            <a:off x="4576572" y="3401568"/>
            <a:ext cx="3017520" cy="274320"/>
          </a:xfrm>
          <a:prstGeom prst="rect">
            <a:avLst/>
          </a:prstGeom>
          <a:noFill/>
          <a:ln/>
        </p:spPr>
        <p:txBody>
          <a:bodyPr wrap="square" lIns="0" tIns="0" rIns="0" bIns="0" rtlCol="0" anchor="ctr"/>
          <a:lstStyle/>
          <a:p>
            <a:pPr indent="0" marL="0">
              <a:buNone/>
            </a:pPr>
            <a:r>
              <a:rPr lang="en-US" sz="1200" b="1" dirty="0">
                <a:solidFill>
                  <a:srgbClr val="028090"/>
                </a:solidFill>
              </a:rPr>
              <a:t>Trần của VLM</a:t>
            </a:r>
            <a:endParaRPr lang="en-US" sz="1200" dirty="0"/>
          </a:p>
        </p:txBody>
      </p:sp>
      <p:sp>
        <p:nvSpPr>
          <p:cNvPr id="13" name="Text 11"/>
          <p:cNvSpPr txBox="1"/>
          <p:nvPr/>
        </p:nvSpPr>
        <p:spPr>
          <a:xfrm>
            <a:off x="4576572" y="3712464"/>
            <a:ext cx="3017520" cy="685800"/>
          </a:xfrm>
          <a:prstGeom prst="rect">
            <a:avLst/>
          </a:prstGeom>
          <a:noFill/>
          <a:ln/>
        </p:spPr>
        <p:txBody>
          <a:bodyPr wrap="square" lIns="0" tIns="0" rIns="0" bIns="0" rtlCol="0" anchor="t"/>
          <a:lstStyle/>
          <a:p>
            <a:pPr indent="0" marL="0">
              <a:buNone/>
            </a:pPr>
            <a:r>
              <a:rPr lang="en-US" sz="1200" dirty="0">
                <a:solidFill>
                  <a:srgbClr val="5F7079"/>
                </a:solidFill>
              </a:rPr>
              <a:t>Đưa ground-truth frame vào VLM, bỏ qua retrieval</a:t>
            </a:r>
            <a:endParaRPr lang="en-US" sz="1200" dirty="0"/>
          </a:p>
        </p:txBody>
      </p:sp>
      <p:sp>
        <p:nvSpPr>
          <p:cNvPr id="14" name="metric-2"/>
          <p:cNvSpPr/>
          <p:nvPr/>
        </p:nvSpPr>
        <p:spPr>
          <a:xfrm>
            <a:off x="8092440" y="2834640"/>
            <a:ext cx="3520440" cy="1691640"/>
          </a:xfrm>
          <a:prstGeom prst="roundRect">
            <a:avLst>
              <a:gd name="adj" fmla="val 4324"/>
            </a:avLst>
          </a:prstGeom>
          <a:solidFill>
            <a:srgbClr val="F1F4F5"/>
          </a:solidFill>
          <a:ln w="9525">
            <a:solidFill>
              <a:srgbClr val="F1F4F5"/>
            </a:solidFill>
            <a:prstDash val="solid"/>
          </a:ln>
        </p:spPr>
      </p:sp>
      <p:sp>
        <p:nvSpPr>
          <p:cNvPr id="15" name="Text 13"/>
          <p:cNvSpPr txBox="1"/>
          <p:nvPr/>
        </p:nvSpPr>
        <p:spPr>
          <a:xfrm>
            <a:off x="8348472" y="3017520"/>
            <a:ext cx="3017520" cy="365760"/>
          </a:xfrm>
          <a:prstGeom prst="rect">
            <a:avLst/>
          </a:prstGeom>
          <a:noFill/>
          <a:ln/>
        </p:spPr>
        <p:txBody>
          <a:bodyPr wrap="square" lIns="0" tIns="0" rIns="0" bIns="0" rtlCol="0" anchor="ctr"/>
          <a:lstStyle/>
          <a:p>
            <a:pPr indent="0" marL="0">
              <a:buNone/>
            </a:pPr>
            <a:r>
              <a:rPr lang="en-US" sz="1600" b="1" dirty="0">
                <a:solidFill>
                  <a:srgbClr val="1A1F24"/>
                </a:solidFill>
              </a:rPr>
              <a:t>End-to-end accuracy</a:t>
            </a:r>
            <a:endParaRPr lang="en-US" sz="1600" dirty="0"/>
          </a:p>
        </p:txBody>
      </p:sp>
      <p:sp>
        <p:nvSpPr>
          <p:cNvPr id="16" name="Text 14"/>
          <p:cNvSpPr txBox="1"/>
          <p:nvPr/>
        </p:nvSpPr>
        <p:spPr>
          <a:xfrm>
            <a:off x="8348472" y="3401568"/>
            <a:ext cx="3017520" cy="274320"/>
          </a:xfrm>
          <a:prstGeom prst="rect">
            <a:avLst/>
          </a:prstGeom>
          <a:noFill/>
          <a:ln/>
        </p:spPr>
        <p:txBody>
          <a:bodyPr wrap="square" lIns="0" tIns="0" rIns="0" bIns="0" rtlCol="0" anchor="ctr"/>
          <a:lstStyle/>
          <a:p>
            <a:pPr indent="0" marL="0">
              <a:buNone/>
            </a:pPr>
            <a:r>
              <a:rPr lang="en-US" sz="1200" b="1" dirty="0">
                <a:solidFill>
                  <a:srgbClr val="028090"/>
                </a:solidFill>
              </a:rPr>
              <a:t>Hệ thống thật</a:t>
            </a:r>
            <a:endParaRPr lang="en-US" sz="1200" dirty="0"/>
          </a:p>
        </p:txBody>
      </p:sp>
      <p:sp>
        <p:nvSpPr>
          <p:cNvPr id="17" name="Text 15"/>
          <p:cNvSpPr txBox="1"/>
          <p:nvPr/>
        </p:nvSpPr>
        <p:spPr>
          <a:xfrm>
            <a:off x="8348472" y="3712464"/>
            <a:ext cx="3017520" cy="685800"/>
          </a:xfrm>
          <a:prstGeom prst="rect">
            <a:avLst/>
          </a:prstGeom>
          <a:noFill/>
          <a:ln/>
        </p:spPr>
        <p:txBody>
          <a:bodyPr wrap="square" lIns="0" tIns="0" rIns="0" bIns="0" rtlCol="0" anchor="t"/>
          <a:lstStyle/>
          <a:p>
            <a:pPr indent="0" marL="0">
              <a:buNone/>
            </a:pPr>
            <a:r>
              <a:rPr lang="en-US" sz="1200" dirty="0">
                <a:solidFill>
                  <a:srgbClr val="5F7079"/>
                </a:solidFill>
              </a:rPr>
              <a:t>Chạy toàn bộ pipeline như khi deploy</a:t>
            </a:r>
            <a:endParaRPr lang="en-US" sz="1200" dirty="0"/>
          </a:p>
        </p:txBody>
      </p:sp>
      <p:sp>
        <p:nvSpPr>
          <p:cNvPr id="18" name="gap-note"/>
          <p:cNvSpPr/>
          <p:nvPr/>
        </p:nvSpPr>
        <p:spPr>
          <a:xfrm>
            <a:off x="548640" y="4709160"/>
            <a:ext cx="11064240" cy="1143000"/>
          </a:xfrm>
          <a:prstGeom prst="roundRect">
            <a:avLst>
              <a:gd name="adj" fmla="val 6400"/>
            </a:avLst>
          </a:prstGeom>
          <a:solidFill>
            <a:srgbClr val="FFFFFF"/>
          </a:solidFill>
          <a:ln w="15875">
            <a:solidFill>
              <a:srgbClr val="DCE3E6"/>
            </a:solidFill>
            <a:prstDash val="solid"/>
          </a:ln>
        </p:spPr>
      </p:sp>
      <p:sp>
        <p:nvSpPr>
          <p:cNvPr id="19" name="Text 17"/>
          <p:cNvSpPr txBox="1"/>
          <p:nvPr/>
        </p:nvSpPr>
        <p:spPr>
          <a:xfrm>
            <a:off x="868680" y="4709160"/>
            <a:ext cx="10424160" cy="1143000"/>
          </a:xfrm>
          <a:prstGeom prst="rect">
            <a:avLst/>
          </a:prstGeom>
          <a:noFill/>
          <a:ln/>
        </p:spPr>
        <p:txBody>
          <a:bodyPr wrap="square" lIns="0" tIns="0" rIns="0" bIns="0" rtlCol="0" anchor="ctr"/>
          <a:lstStyle/>
          <a:p>
            <a:pPr indent="0" marL="0">
              <a:buNone/>
            </a:pPr>
            <a:r>
              <a:rPr lang="en-US" sz="1400" b="1" dirty="0">
                <a:solidFill>
                  <a:srgbClr val="1A1F24"/>
                </a:solidFill>
              </a:rPr>
              <a:t>Khoảng cách Oracle − End-to-end chính là phần hiệu năng mất vì retrieval. </a:t>
            </a:r>
            <a:pPr indent="0" marL="0">
              <a:buNone/>
            </a:pPr>
            <a:r>
              <a:rPr lang="en-US" sz="1400" dirty="0">
                <a:solidFill>
                  <a:srgbClr val="5F7079"/>
                </a:solidFill>
              </a:rPr>
              <a:t>Khoảng cách lớn → đi tối ưu retrieval. Oracle accuracy đã thấp sẵn → vấn đề ở VLM, đổi model hoặc đổi prompt. Đây là câu đầu tiên nên trả lời trong phần kết quả.</a:t>
            </a:r>
            <a:endParaRPr lang="en-US" sz="140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Bảng ablation là kết quả quan trọng nhất của báo cáo</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651760"/>
                <a:gridCol w="1188720"/>
                <a:gridCol w="822960"/>
                <a:gridCol w="822960"/>
                <a:gridCol w="5577840"/>
              </a:tblGrid>
              <a:tr h="457200">
                <a:tc>
                  <a:txBody>
                    <a:bodyPr/>
                    <a:lstStyle/>
                    <a:p>
                      <a:pPr algn="l" indent="0" marL="0">
                        <a:buNone/>
                      </a:pPr>
                      <a:r>
                        <a:rPr lang="en-US" sz="1250" b="1" dirty="0">
                          <a:solidFill>
                            <a:srgbClr val="FFFFFF"/>
                          </a:solidFill>
                        </a:rPr>
                        <a:t>Cấu hình</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Frames</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OCR</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ASR</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c>
                  <a:txBody>
                    <a:bodyPr/>
                    <a:lstStyle/>
                    <a:p>
                      <a:pPr algn="l" indent="0" marL="0">
                        <a:buNone/>
                      </a:pPr>
                      <a:r>
                        <a:rPr lang="en-US" sz="1250" b="1" dirty="0">
                          <a:solidFill>
                            <a:srgbClr val="FFFFFF"/>
                          </a:solidFill>
                        </a:rPr>
                        <a:t>Ý nghĩa khi điểm cao bất thường</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36454F"/>
                    </a:solidFill>
                  </a:tcPr>
                </a:tc>
              </a:tr>
              <a:tr h="457200">
                <a:tc>
                  <a:txBody>
                    <a:bodyPr/>
                    <a:lstStyle/>
                    <a:p>
                      <a:pPr algn="l" indent="0" marL="0">
                        <a:buNone/>
                      </a:pPr>
                      <a:r>
                        <a:rPr lang="en-US" sz="1250" b="1" dirty="0">
                          <a:solidFill>
                            <a:srgbClr val="1A1F24"/>
                          </a:solidFill>
                        </a:rPr>
                        <a:t>Full</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Baseline để so sánh</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A1F24"/>
                          </a:solidFill>
                        </a:rPr>
                        <a:t>− OCR</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OCR engine ngoài không đóng góp gì</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A1F24"/>
                          </a:solidFill>
                        </a:rPr>
                        <a:t>− ASR</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ctr" indent="0" marL="0">
                        <a:buNone/>
                      </a:pP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c>
                  <a:txBody>
                    <a:bodyPr/>
                    <a:lstStyle/>
                    <a:p>
                      <a:pPr algn="l" indent="0" marL="0">
                        <a:buNone/>
                      </a:pPr>
                      <a:r>
                        <a:rPr lang="en-US" sz="1250" dirty="0">
                          <a:solidFill>
                            <a:srgbClr val="5F7079"/>
                          </a:solidFill>
                        </a:rPr>
                        <a:t>Câu hỏi không phụ thuộc lời nói</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FFFFF"/>
                    </a:solidFill>
                  </a:tcPr>
                </a:tc>
              </a:tr>
              <a:tr h="457200">
                <a:tc>
                  <a:txBody>
                    <a:bodyPr/>
                    <a:lstStyle/>
                    <a:p>
                      <a:pPr algn="l" indent="0" marL="0">
                        <a:buNone/>
                      </a:pPr>
                      <a:r>
                        <a:rPr lang="en-US" sz="1250" b="1" dirty="0">
                          <a:solidFill>
                            <a:srgbClr val="1A1F24"/>
                          </a:solidFill>
                        </a:rPr>
                        <a:t>Text-only (bỏ frame)</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l" indent="0" marL="0">
                        <a:buNone/>
                      </a:pPr>
                      <a:r>
                        <a:rPr lang="en-US" sz="1250" dirty="0">
                          <a:solidFill>
                            <a:srgbClr val="F96167"/>
                          </a:solidFill>
                        </a:rPr>
                        <a:t>Cảnh báo: benchmark trả lời được bằng text, không cần thị giác</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r>
              <a:tr h="457200">
                <a:tc>
                  <a:txBody>
                    <a:bodyPr/>
                    <a:lstStyle/>
                    <a:p>
                      <a:pPr algn="l" indent="0" marL="0">
                        <a:buNone/>
                      </a:pPr>
                      <a:r>
                        <a:rPr lang="en-US" sz="1250" b="1" dirty="0">
                          <a:solidFill>
                            <a:srgbClr val="1A1F24"/>
                          </a:solidFill>
                        </a:rPr>
                        <a:t>Blind (chỉ câu hỏi)</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l" indent="0" marL="0">
                        <a:buNone/>
                      </a:pPr>
                      <a:r>
                        <a:rPr lang="en-US" sz="1250" dirty="0">
                          <a:solidFill>
                            <a:srgbClr val="F96167"/>
                          </a:solidFill>
                        </a:rPr>
                        <a:t>Cảnh báo: model đoán bằng prior ngôn ngữ, câu hỏi bị leak</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r>
              <a:tr h="457200">
                <a:tc>
                  <a:txBody>
                    <a:bodyPr/>
                    <a:lstStyle/>
                    <a:p>
                      <a:pPr algn="l" indent="0" marL="0">
                        <a:buNone/>
                      </a:pPr>
                      <a:r>
                        <a:rPr lang="en-US" sz="1250" b="1" dirty="0">
                          <a:solidFill>
                            <a:srgbClr val="1A1F24"/>
                          </a:solidFill>
                        </a:rPr>
                        <a:t>Shuffle thứ tự frame</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r>
                        <a:rPr lang="en-US" sz="1250" dirty="0">
                          <a:solidFill>
                            <a:srgbClr val="5F7079"/>
                          </a:solidFill>
                        </a:rPr>
                        <a:t>✓ (đảo)</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ctr" indent="0" marL="0">
                        <a:buNone/>
                      </a:pPr>
                      <a:r>
                        <a:rPr lang="en-US" sz="1250" dirty="0">
                          <a:solidFill>
                            <a:srgbClr val="5F7079"/>
                          </a:solidFill>
                        </a:rPr>
                        <a:t>✓</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c>
                  <a:txBody>
                    <a:bodyPr/>
                    <a:lstStyle/>
                    <a:p>
                      <a:pPr algn="l" indent="0" marL="0">
                        <a:buNone/>
                      </a:pPr>
                      <a:r>
                        <a:rPr lang="en-US" sz="1250" dirty="0">
                          <a:solidFill>
                            <a:srgbClr val="F96167"/>
                          </a:solidFill>
                        </a:rPr>
                        <a:t>Cảnh báo: model không dùng thông tin thời gian</a:t>
                      </a:r>
                      <a:endParaRPr lang="en-US" sz="1250" dirty="0"/>
                    </a:p>
                  </a:txBody>
                  <a:tcPr marL="73152" marR="73152" marT="73152" marB="73152" anchor="ctr">
                    <a:lnL w="12700" cap="flat" cmpd="sng" algn="ctr">
                      <a:solidFill>
                        <a:srgbClr val="DCE3E6"/>
                      </a:solidFill>
                      <a:prstDash val="solid"/>
                      <a:round/>
                      <a:headEnd type="none" w="med" len="med"/>
                      <a:tailEnd type="none" w="med" len="med"/>
                    </a:lnL>
                    <a:lnR w="12700" cap="flat" cmpd="sng" algn="ctr">
                      <a:solidFill>
                        <a:srgbClr val="DCE3E6"/>
                      </a:solidFill>
                      <a:prstDash val="solid"/>
                      <a:round/>
                      <a:headEnd type="none" w="med" len="med"/>
                      <a:tailEnd type="none" w="med" len="med"/>
                    </a:lnR>
                    <a:lnT w="12700" cap="flat" cmpd="sng" algn="ctr">
                      <a:solidFill>
                        <a:srgbClr val="DCE3E6"/>
                      </a:solidFill>
                      <a:prstDash val="solid"/>
                      <a:round/>
                      <a:headEnd type="none" w="med" len="med"/>
                      <a:tailEnd type="none" w="med" len="med"/>
                    </a:lnT>
                    <a:lnB w="12700" cap="flat" cmpd="sng" algn="ctr">
                      <a:solidFill>
                        <a:srgbClr val="DCE3E6"/>
                      </a:solidFill>
                      <a:prstDash val="solid"/>
                      <a:round/>
                      <a:headEnd type="none" w="med" len="med"/>
                      <a:tailEnd type="none" w="med" len="med"/>
                    </a:lnB>
                    <a:solidFill>
                      <a:srgbClr val="FDEEEE"/>
                    </a:solidFill>
                  </a:tcPr>
                </a:tc>
              </a:tr>
            </a:tbl>
          </a:graphicData>
        </a:graphic>
      </p:graphicFrame>
      <p:sp>
        <p:nvSpPr>
          <p:cNvPr id="4" name="abl-note"/>
          <p:cNvSpPr/>
          <p:nvPr/>
        </p:nvSpPr>
        <p:spPr>
          <a:xfrm>
            <a:off x="548640" y="4846320"/>
            <a:ext cx="11064240" cy="1051560"/>
          </a:xfrm>
          <a:prstGeom prst="roundRect">
            <a:avLst>
              <a:gd name="adj" fmla="val 6957"/>
            </a:avLst>
          </a:prstGeom>
          <a:solidFill>
            <a:srgbClr val="F1F4F5"/>
          </a:solidFill>
          <a:ln w="9525">
            <a:solidFill>
              <a:srgbClr val="F1F4F5"/>
            </a:solidFill>
            <a:prstDash val="solid"/>
          </a:ln>
        </p:spPr>
      </p:sp>
      <p:sp>
        <p:nvSpPr>
          <p:cNvPr id="5" name="Text 2"/>
          <p:cNvSpPr txBox="1"/>
          <p:nvPr/>
        </p:nvSpPr>
        <p:spPr>
          <a:xfrm>
            <a:off x="868680" y="4846320"/>
            <a:ext cx="10424160" cy="1051560"/>
          </a:xfrm>
          <a:prstGeom prst="rect">
            <a:avLst/>
          </a:prstGeom>
          <a:noFill/>
          <a:ln/>
        </p:spPr>
        <p:txBody>
          <a:bodyPr wrap="square" lIns="0" tIns="0" rIns="0" bIns="0" rtlCol="0" anchor="ctr"/>
          <a:lstStyle/>
          <a:p>
            <a:pPr indent="0" marL="0">
              <a:buNone/>
            </a:pPr>
            <a:r>
              <a:rPr lang="en-US" sz="1350" dirty="0">
                <a:solidFill>
                  <a:srgbClr val="5F7079"/>
                </a:solidFill>
              </a:rPr>
              <a:t>Ba dòng cuối là thứ giám khảo sẽ hỏi. Nếu bỏ hết frame mà accuracy chỉ giảm vài điểm, kết luận “VLM hiểu video” không đứng được. Tương tự, nếu đảo thứ tự frame mà điểm không đổi thì các câu hỏi temporal đang được trả lời bằng thứ khác.</a:t>
            </a:r>
            <a:endParaRPr lang="en-US" sz="135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731520"/>
          </a:xfrm>
          <a:prstGeom prst="rect">
            <a:avLst/>
          </a:prstGeom>
          <a:noFill/>
          <a:ln/>
        </p:spPr>
        <p:txBody>
          <a:bodyPr wrap="square" rtlCol="0" anchor="ctr"/>
          <a:lstStyle/>
          <a:p>
            <a:pPr algn="l" indent="0" marL="0">
              <a:buNone/>
            </a:pPr>
            <a:r>
              <a:rPr lang="en-US" sz="3200" b="1" dirty="0">
                <a:solidFill>
                  <a:srgbClr val="1A1F24"/>
                </a:solidFill>
              </a:rPr>
              <a:t>Sáu giới hạn nên chủ động nói trước khi bị hỏi</a:t>
            </a:r>
            <a:endParaRPr lang="en-US" sz="3200" dirty="0"/>
          </a:p>
        </p:txBody>
      </p:sp>
      <p:sp>
        <p:nvSpPr>
          <p:cNvPr id="3" name="limit-0"/>
          <p:cNvSpPr/>
          <p:nvPr/>
        </p:nvSpPr>
        <p:spPr>
          <a:xfrm>
            <a:off x="548640" y="1463040"/>
            <a:ext cx="3520440" cy="2057400"/>
          </a:xfrm>
          <a:prstGeom prst="roundRect">
            <a:avLst>
              <a:gd name="adj" fmla="val 3556"/>
            </a:avLst>
          </a:prstGeom>
          <a:solidFill>
            <a:srgbClr val="FFFFFF"/>
          </a:solidFill>
          <a:ln w="15875">
            <a:solidFill>
              <a:srgbClr val="DCE3E6"/>
            </a:solidFill>
            <a:prstDash val="solid"/>
          </a:ln>
        </p:spPr>
      </p:sp>
      <p:sp>
        <p:nvSpPr>
          <p:cNvPr id="4" name="Shape 2"/>
          <p:cNvSpPr/>
          <p:nvPr/>
        </p:nvSpPr>
        <p:spPr>
          <a:xfrm>
            <a:off x="804672" y="1700784"/>
            <a:ext cx="384048" cy="384048"/>
          </a:xfrm>
          <a:prstGeom prst="ellipse">
            <a:avLst/>
          </a:prstGeom>
          <a:solidFill>
            <a:srgbClr val="F96167"/>
          </a:solidFill>
          <a:ln/>
        </p:spPr>
      </p:sp>
      <p:sp>
        <p:nvSpPr>
          <p:cNvPr id="5" name="Text 3"/>
          <p:cNvSpPr txBox="1"/>
          <p:nvPr/>
        </p:nvSpPr>
        <p:spPr>
          <a:xfrm>
            <a:off x="804672"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4"/>
          <p:cNvSpPr txBox="1"/>
          <p:nvPr/>
        </p:nvSpPr>
        <p:spPr>
          <a:xfrm>
            <a:off x="804672" y="2212848"/>
            <a:ext cx="3017520" cy="548640"/>
          </a:xfrm>
          <a:prstGeom prst="rect">
            <a:avLst/>
          </a:prstGeom>
          <a:noFill/>
          <a:ln/>
        </p:spPr>
        <p:txBody>
          <a:bodyPr wrap="square" lIns="0" tIns="0" rIns="0" bIns="0" rtlCol="0" anchor="t"/>
          <a:lstStyle/>
          <a:p>
            <a:pPr indent="0" marL="0">
              <a:buNone/>
            </a:pPr>
            <a:r>
              <a:rPr lang="en-US" sz="1450" b="1" dirty="0">
                <a:solidFill>
                  <a:srgbClr val="1A1F24"/>
                </a:solidFill>
              </a:rPr>
              <a:t>Không nghe được audio</a:t>
            </a:r>
            <a:endParaRPr lang="en-US" sz="1450" dirty="0"/>
          </a:p>
        </p:txBody>
      </p:sp>
      <p:sp>
        <p:nvSpPr>
          <p:cNvPr id="7" name="Text 5"/>
          <p:cNvSpPr txBox="1"/>
          <p:nvPr/>
        </p:nvSpPr>
        <p:spPr>
          <a:xfrm>
            <a:off x="804672" y="2761488"/>
            <a:ext cx="3017520" cy="658368"/>
          </a:xfrm>
          <a:prstGeom prst="rect">
            <a:avLst/>
          </a:prstGeom>
          <a:noFill/>
          <a:ln/>
        </p:spPr>
        <p:txBody>
          <a:bodyPr wrap="square" lIns="0" tIns="0" rIns="0" bIns="0" rtlCol="0" anchor="t"/>
          <a:lstStyle/>
          <a:p>
            <a:pPr indent="0" marL="0">
              <a:buNone/>
            </a:pPr>
            <a:r>
              <a:rPr lang="en-US" sz="1150" dirty="0">
                <a:solidFill>
                  <a:srgbClr val="5F7079"/>
                </a:solidFill>
              </a:rPr>
              <a:t>Model chỉ nhận ảnh và text. Tiếng nói phải đi qua ASR trước — lỗi ASR không cứu được ở tầng VLM.</a:t>
            </a:r>
            <a:endParaRPr lang="en-US" sz="1150" dirty="0"/>
          </a:p>
        </p:txBody>
      </p:sp>
      <p:sp>
        <p:nvSpPr>
          <p:cNvPr id="8" name="limit-1"/>
          <p:cNvSpPr/>
          <p:nvPr/>
        </p:nvSpPr>
        <p:spPr>
          <a:xfrm>
            <a:off x="4320540" y="1463040"/>
            <a:ext cx="3520440" cy="2057400"/>
          </a:xfrm>
          <a:prstGeom prst="roundRect">
            <a:avLst>
              <a:gd name="adj" fmla="val 3556"/>
            </a:avLst>
          </a:prstGeom>
          <a:solidFill>
            <a:srgbClr val="FFFFFF"/>
          </a:solidFill>
          <a:ln w="15875">
            <a:solidFill>
              <a:srgbClr val="DCE3E6"/>
            </a:solidFill>
            <a:prstDash val="solid"/>
          </a:ln>
        </p:spPr>
      </p:sp>
      <p:sp>
        <p:nvSpPr>
          <p:cNvPr id="9" name="Shape 7"/>
          <p:cNvSpPr/>
          <p:nvPr/>
        </p:nvSpPr>
        <p:spPr>
          <a:xfrm>
            <a:off x="4576572" y="1700784"/>
            <a:ext cx="384048" cy="384048"/>
          </a:xfrm>
          <a:prstGeom prst="ellipse">
            <a:avLst/>
          </a:prstGeom>
          <a:solidFill>
            <a:srgbClr val="F96167"/>
          </a:solidFill>
          <a:ln/>
        </p:spPr>
      </p:sp>
      <p:sp>
        <p:nvSpPr>
          <p:cNvPr id="10" name="Text 8"/>
          <p:cNvSpPr txBox="1"/>
          <p:nvPr/>
        </p:nvSpPr>
        <p:spPr>
          <a:xfrm>
            <a:off x="4576572"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9"/>
          <p:cNvSpPr txBox="1"/>
          <p:nvPr/>
        </p:nvSpPr>
        <p:spPr>
          <a:xfrm>
            <a:off x="4576572" y="2212848"/>
            <a:ext cx="3017520" cy="548640"/>
          </a:xfrm>
          <a:prstGeom prst="rect">
            <a:avLst/>
          </a:prstGeom>
          <a:noFill/>
          <a:ln/>
        </p:spPr>
        <p:txBody>
          <a:bodyPr wrap="square" lIns="0" tIns="0" rIns="0" bIns="0" rtlCol="0" anchor="t"/>
          <a:lstStyle/>
          <a:p>
            <a:pPr indent="0" marL="0">
              <a:buNone/>
            </a:pPr>
            <a:r>
              <a:rPr lang="en-US" sz="1450" b="1" dirty="0">
                <a:solidFill>
                  <a:srgbClr val="1A1F24"/>
                </a:solidFill>
              </a:rPr>
              <a:t>Context 32k</a:t>
            </a:r>
            <a:endParaRPr lang="en-US" sz="1450" dirty="0"/>
          </a:p>
        </p:txBody>
      </p:sp>
      <p:sp>
        <p:nvSpPr>
          <p:cNvPr id="12" name="Text 10"/>
          <p:cNvSpPr txBox="1"/>
          <p:nvPr/>
        </p:nvSpPr>
        <p:spPr>
          <a:xfrm>
            <a:off x="4576572" y="2761488"/>
            <a:ext cx="3017520" cy="658368"/>
          </a:xfrm>
          <a:prstGeom prst="rect">
            <a:avLst/>
          </a:prstGeom>
          <a:noFill/>
          <a:ln/>
        </p:spPr>
        <p:txBody>
          <a:bodyPr wrap="square" lIns="0" tIns="0" rIns="0" bIns="0" rtlCol="0" anchor="t"/>
          <a:lstStyle/>
          <a:p>
            <a:pPr indent="0" marL="0">
              <a:buNone/>
            </a:pPr>
            <a:r>
              <a:rPr lang="en-US" sz="1150" dirty="0">
                <a:solidFill>
                  <a:srgbClr val="5F7079"/>
                </a:solidFill>
              </a:rPr>
              <a:t>Nới bằng YaRN thì được, nhưng model card ghi rõ YaRN làm giảm đáng kể định vị không gian–thời gian.</a:t>
            </a:r>
            <a:endParaRPr lang="en-US" sz="1150" dirty="0"/>
          </a:p>
        </p:txBody>
      </p:sp>
      <p:sp>
        <p:nvSpPr>
          <p:cNvPr id="13" name="limit-2"/>
          <p:cNvSpPr/>
          <p:nvPr/>
        </p:nvSpPr>
        <p:spPr>
          <a:xfrm>
            <a:off x="8092440" y="1463040"/>
            <a:ext cx="3520440" cy="2057400"/>
          </a:xfrm>
          <a:prstGeom prst="roundRect">
            <a:avLst>
              <a:gd name="adj" fmla="val 3556"/>
            </a:avLst>
          </a:prstGeom>
          <a:solidFill>
            <a:srgbClr val="FFFFFF"/>
          </a:solidFill>
          <a:ln w="15875">
            <a:solidFill>
              <a:srgbClr val="DCE3E6"/>
            </a:solidFill>
            <a:prstDash val="solid"/>
          </a:ln>
        </p:spPr>
      </p:sp>
      <p:sp>
        <p:nvSpPr>
          <p:cNvPr id="14" name="Shape 12"/>
          <p:cNvSpPr/>
          <p:nvPr/>
        </p:nvSpPr>
        <p:spPr>
          <a:xfrm>
            <a:off x="8348472" y="1700784"/>
            <a:ext cx="384048" cy="384048"/>
          </a:xfrm>
          <a:prstGeom prst="ellipse">
            <a:avLst/>
          </a:prstGeom>
          <a:solidFill>
            <a:srgbClr val="F96167"/>
          </a:solidFill>
          <a:ln/>
        </p:spPr>
      </p:sp>
      <p:sp>
        <p:nvSpPr>
          <p:cNvPr id="15" name="Text 13"/>
          <p:cNvSpPr txBox="1"/>
          <p:nvPr/>
        </p:nvSpPr>
        <p:spPr>
          <a:xfrm>
            <a:off x="8348472" y="1700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6" name="Text 14"/>
          <p:cNvSpPr txBox="1"/>
          <p:nvPr/>
        </p:nvSpPr>
        <p:spPr>
          <a:xfrm>
            <a:off x="8348472" y="2212848"/>
            <a:ext cx="3017520" cy="548640"/>
          </a:xfrm>
          <a:prstGeom prst="rect">
            <a:avLst/>
          </a:prstGeom>
          <a:noFill/>
          <a:ln/>
        </p:spPr>
        <p:txBody>
          <a:bodyPr wrap="square" lIns="0" tIns="0" rIns="0" bIns="0" rtlCol="0" anchor="t"/>
          <a:lstStyle/>
          <a:p>
            <a:pPr indent="0" marL="0">
              <a:buNone/>
            </a:pPr>
            <a:r>
              <a:rPr lang="en-US" sz="1450" b="1" dirty="0">
                <a:solidFill>
                  <a:srgbClr val="1A1F24"/>
                </a:solidFill>
              </a:rPr>
              <a:t>License qwen-research</a:t>
            </a:r>
            <a:endParaRPr lang="en-US" sz="1450" dirty="0"/>
          </a:p>
        </p:txBody>
      </p:sp>
      <p:sp>
        <p:nvSpPr>
          <p:cNvPr id="17" name="Text 15"/>
          <p:cNvSpPr txBox="1"/>
          <p:nvPr/>
        </p:nvSpPr>
        <p:spPr>
          <a:xfrm>
            <a:off x="8348472" y="2761488"/>
            <a:ext cx="3017520" cy="658368"/>
          </a:xfrm>
          <a:prstGeom prst="rect">
            <a:avLst/>
          </a:prstGeom>
          <a:noFill/>
          <a:ln/>
        </p:spPr>
        <p:txBody>
          <a:bodyPr wrap="square" lIns="0" tIns="0" rIns="0" bIns="0" rtlCol="0" anchor="t"/>
          <a:lstStyle/>
          <a:p>
            <a:pPr indent="0" marL="0">
              <a:buNone/>
            </a:pPr>
            <a:r>
              <a:rPr lang="en-US" sz="1150" dirty="0">
                <a:solidFill>
                  <a:srgbClr val="5F7079"/>
                </a:solidFill>
              </a:rPr>
              <a:t>Chỉ áp dụng cho bản 3B. Bản 7B mới là Apache-2.0.</a:t>
            </a:r>
            <a:endParaRPr lang="en-US" sz="1150" dirty="0"/>
          </a:p>
        </p:txBody>
      </p:sp>
      <p:sp>
        <p:nvSpPr>
          <p:cNvPr id="18" name="limit-3"/>
          <p:cNvSpPr/>
          <p:nvPr/>
        </p:nvSpPr>
        <p:spPr>
          <a:xfrm>
            <a:off x="548640" y="3749040"/>
            <a:ext cx="3520440" cy="2057400"/>
          </a:xfrm>
          <a:prstGeom prst="roundRect">
            <a:avLst>
              <a:gd name="adj" fmla="val 3556"/>
            </a:avLst>
          </a:prstGeom>
          <a:solidFill>
            <a:srgbClr val="FFFFFF"/>
          </a:solidFill>
          <a:ln w="15875">
            <a:solidFill>
              <a:srgbClr val="DCE3E6"/>
            </a:solidFill>
            <a:prstDash val="solid"/>
          </a:ln>
        </p:spPr>
      </p:sp>
      <p:sp>
        <p:nvSpPr>
          <p:cNvPr id="19" name="Shape 17"/>
          <p:cNvSpPr/>
          <p:nvPr/>
        </p:nvSpPr>
        <p:spPr>
          <a:xfrm>
            <a:off x="804672" y="3986784"/>
            <a:ext cx="384048" cy="384048"/>
          </a:xfrm>
          <a:prstGeom prst="ellipse">
            <a:avLst/>
          </a:prstGeom>
          <a:solidFill>
            <a:srgbClr val="F96167"/>
          </a:solidFill>
          <a:ln/>
        </p:spPr>
      </p:sp>
      <p:sp>
        <p:nvSpPr>
          <p:cNvPr id="20" name="Text 18"/>
          <p:cNvSpPr txBox="1"/>
          <p:nvPr/>
        </p:nvSpPr>
        <p:spPr>
          <a:xfrm>
            <a:off x="804672" y="3986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1" name="Text 19"/>
          <p:cNvSpPr txBox="1"/>
          <p:nvPr/>
        </p:nvSpPr>
        <p:spPr>
          <a:xfrm>
            <a:off x="804672" y="4498848"/>
            <a:ext cx="3017520" cy="548640"/>
          </a:xfrm>
          <a:prstGeom prst="rect">
            <a:avLst/>
          </a:prstGeom>
          <a:noFill/>
          <a:ln/>
        </p:spPr>
        <p:txBody>
          <a:bodyPr wrap="square" lIns="0" tIns="0" rIns="0" bIns="0" rtlCol="0" anchor="t"/>
          <a:lstStyle/>
          <a:p>
            <a:pPr indent="0" marL="0">
              <a:buNone/>
            </a:pPr>
            <a:r>
              <a:rPr lang="en-US" sz="1450" b="1" dirty="0">
                <a:solidFill>
                  <a:srgbClr val="1A1F24"/>
                </a:solidFill>
              </a:rPr>
              <a:t>Sai định dạng output</a:t>
            </a:r>
            <a:endParaRPr lang="en-US" sz="1450" dirty="0"/>
          </a:p>
        </p:txBody>
      </p:sp>
      <p:sp>
        <p:nvSpPr>
          <p:cNvPr id="22" name="Text 20"/>
          <p:cNvSpPr txBox="1"/>
          <p:nvPr/>
        </p:nvSpPr>
        <p:spPr>
          <a:xfrm>
            <a:off x="804672" y="5047488"/>
            <a:ext cx="3017520" cy="658368"/>
          </a:xfrm>
          <a:prstGeom prst="rect">
            <a:avLst/>
          </a:prstGeom>
          <a:noFill/>
          <a:ln/>
        </p:spPr>
        <p:txBody>
          <a:bodyPr wrap="square" lIns="0" tIns="0" rIns="0" bIns="0" rtlCol="0" anchor="t"/>
          <a:lstStyle/>
          <a:p>
            <a:pPr indent="0" marL="0">
              <a:buNone/>
            </a:pPr>
            <a:r>
              <a:rPr lang="en-US" sz="1150" dirty="0">
                <a:solidFill>
                  <a:srgbClr val="5F7079"/>
                </a:solidFill>
              </a:rPr>
              <a:t>Model 3B thỉnh thoảng trả cả câu thay vì một chữ cái — cần parser regex và phải đếm số case parse thất bại.</a:t>
            </a:r>
            <a:endParaRPr lang="en-US" sz="1150" dirty="0"/>
          </a:p>
        </p:txBody>
      </p:sp>
      <p:sp>
        <p:nvSpPr>
          <p:cNvPr id="23" name="limit-4"/>
          <p:cNvSpPr/>
          <p:nvPr/>
        </p:nvSpPr>
        <p:spPr>
          <a:xfrm>
            <a:off x="4320540" y="3749040"/>
            <a:ext cx="3520440" cy="2057400"/>
          </a:xfrm>
          <a:prstGeom prst="roundRect">
            <a:avLst>
              <a:gd name="adj" fmla="val 3556"/>
            </a:avLst>
          </a:prstGeom>
          <a:solidFill>
            <a:srgbClr val="FFFFFF"/>
          </a:solidFill>
          <a:ln w="15875">
            <a:solidFill>
              <a:srgbClr val="DCE3E6"/>
            </a:solidFill>
            <a:prstDash val="solid"/>
          </a:ln>
        </p:spPr>
      </p:sp>
      <p:sp>
        <p:nvSpPr>
          <p:cNvPr id="24" name="Shape 22"/>
          <p:cNvSpPr/>
          <p:nvPr/>
        </p:nvSpPr>
        <p:spPr>
          <a:xfrm>
            <a:off x="4576572" y="3986784"/>
            <a:ext cx="384048" cy="384048"/>
          </a:xfrm>
          <a:prstGeom prst="ellipse">
            <a:avLst/>
          </a:prstGeom>
          <a:solidFill>
            <a:srgbClr val="F96167"/>
          </a:solidFill>
          <a:ln/>
        </p:spPr>
      </p:sp>
      <p:sp>
        <p:nvSpPr>
          <p:cNvPr id="25" name="Text 23"/>
          <p:cNvSpPr txBox="1"/>
          <p:nvPr/>
        </p:nvSpPr>
        <p:spPr>
          <a:xfrm>
            <a:off x="4576572" y="3986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6" name="Text 24"/>
          <p:cNvSpPr txBox="1"/>
          <p:nvPr/>
        </p:nvSpPr>
        <p:spPr>
          <a:xfrm>
            <a:off x="4576572" y="4498848"/>
            <a:ext cx="3017520" cy="548640"/>
          </a:xfrm>
          <a:prstGeom prst="rect">
            <a:avLst/>
          </a:prstGeom>
          <a:noFill/>
          <a:ln/>
        </p:spPr>
        <p:txBody>
          <a:bodyPr wrap="square" lIns="0" tIns="0" rIns="0" bIns="0" rtlCol="0" anchor="t"/>
          <a:lstStyle/>
          <a:p>
            <a:pPr indent="0" marL="0">
              <a:buNone/>
            </a:pPr>
            <a:r>
              <a:rPr lang="en-US" sz="1450" b="1" dirty="0">
                <a:solidFill>
                  <a:srgbClr val="1A1F24"/>
                </a:solidFill>
              </a:rPr>
              <a:t>Hallucination khi retrieval miss</a:t>
            </a:r>
            <a:endParaRPr lang="en-US" sz="1450" dirty="0"/>
          </a:p>
        </p:txBody>
      </p:sp>
      <p:sp>
        <p:nvSpPr>
          <p:cNvPr id="27" name="Text 25"/>
          <p:cNvSpPr txBox="1"/>
          <p:nvPr/>
        </p:nvSpPr>
        <p:spPr>
          <a:xfrm>
            <a:off x="4576572" y="5047488"/>
            <a:ext cx="3017520" cy="658368"/>
          </a:xfrm>
          <a:prstGeom prst="rect">
            <a:avLst/>
          </a:prstGeom>
          <a:noFill/>
          <a:ln/>
        </p:spPr>
        <p:txBody>
          <a:bodyPr wrap="square" lIns="0" tIns="0" rIns="0" bIns="0" rtlCol="0" anchor="t"/>
          <a:lstStyle/>
          <a:p>
            <a:pPr indent="0" marL="0">
              <a:buNone/>
            </a:pPr>
            <a:r>
              <a:rPr lang="en-US" sz="1150" dirty="0">
                <a:solidFill>
                  <a:srgbClr val="5F7079"/>
                </a:solidFill>
              </a:rPr>
              <a:t>Frame không chứa đáp án nhưng VLM vẫn tự tin trả lời. Thêm lựa chọn “không đủ thông tin” và đo tỉ lệ chọn đúng lúc.</a:t>
            </a:r>
            <a:endParaRPr lang="en-US" sz="1150" dirty="0"/>
          </a:p>
        </p:txBody>
      </p:sp>
      <p:sp>
        <p:nvSpPr>
          <p:cNvPr id="28" name="limit-5"/>
          <p:cNvSpPr/>
          <p:nvPr/>
        </p:nvSpPr>
        <p:spPr>
          <a:xfrm>
            <a:off x="8092440" y="3749040"/>
            <a:ext cx="3520440" cy="2057400"/>
          </a:xfrm>
          <a:prstGeom prst="roundRect">
            <a:avLst>
              <a:gd name="adj" fmla="val 3556"/>
            </a:avLst>
          </a:prstGeom>
          <a:solidFill>
            <a:srgbClr val="FFFFFF"/>
          </a:solidFill>
          <a:ln w="15875">
            <a:solidFill>
              <a:srgbClr val="DCE3E6"/>
            </a:solidFill>
            <a:prstDash val="solid"/>
          </a:ln>
        </p:spPr>
      </p:sp>
      <p:sp>
        <p:nvSpPr>
          <p:cNvPr id="29" name="Shape 27"/>
          <p:cNvSpPr/>
          <p:nvPr/>
        </p:nvSpPr>
        <p:spPr>
          <a:xfrm>
            <a:off x="8348472" y="3986784"/>
            <a:ext cx="384048" cy="384048"/>
          </a:xfrm>
          <a:prstGeom prst="ellipse">
            <a:avLst/>
          </a:prstGeom>
          <a:solidFill>
            <a:srgbClr val="F96167"/>
          </a:solidFill>
          <a:ln/>
        </p:spPr>
      </p:sp>
      <p:sp>
        <p:nvSpPr>
          <p:cNvPr id="30" name="Text 28"/>
          <p:cNvSpPr txBox="1"/>
          <p:nvPr/>
        </p:nvSpPr>
        <p:spPr>
          <a:xfrm>
            <a:off x="8348472" y="39867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1" name="Text 29"/>
          <p:cNvSpPr txBox="1"/>
          <p:nvPr/>
        </p:nvSpPr>
        <p:spPr>
          <a:xfrm>
            <a:off x="8348472" y="4498848"/>
            <a:ext cx="3017520" cy="548640"/>
          </a:xfrm>
          <a:prstGeom prst="rect">
            <a:avLst/>
          </a:prstGeom>
          <a:noFill/>
          <a:ln/>
        </p:spPr>
        <p:txBody>
          <a:bodyPr wrap="square" lIns="0" tIns="0" rIns="0" bIns="0" rtlCol="0" anchor="t"/>
          <a:lstStyle/>
          <a:p>
            <a:pPr indent="0" marL="0">
              <a:buNone/>
            </a:pPr>
            <a:r>
              <a:rPr lang="en-US" sz="1450" b="1" dirty="0">
                <a:solidFill>
                  <a:srgbClr val="1A1F24"/>
                </a:solidFill>
              </a:rPr>
              <a:t>Số benchmark không tái lập được</a:t>
            </a:r>
            <a:endParaRPr lang="en-US" sz="1450" dirty="0"/>
          </a:p>
        </p:txBody>
      </p:sp>
      <p:sp>
        <p:nvSpPr>
          <p:cNvPr id="32" name="Text 30"/>
          <p:cNvSpPr txBox="1"/>
          <p:nvPr/>
        </p:nvSpPr>
        <p:spPr>
          <a:xfrm>
            <a:off x="8348472" y="5047488"/>
            <a:ext cx="3017520" cy="658368"/>
          </a:xfrm>
          <a:prstGeom prst="rect">
            <a:avLst/>
          </a:prstGeom>
          <a:noFill/>
          <a:ln/>
        </p:spPr>
        <p:txBody>
          <a:bodyPr wrap="square" lIns="0" tIns="0" rIns="0" bIns="0" rtlCol="0" anchor="t"/>
          <a:lstStyle/>
          <a:p>
            <a:pPr indent="0" marL="0">
              <a:buNone/>
            </a:pPr>
            <a:r>
              <a:rPr lang="en-US" sz="1150" dirty="0">
                <a:solidFill>
                  <a:srgbClr val="5F7079"/>
                </a:solidFill>
              </a:rPr>
              <a:t>Số công bố là của nhóm Qwen ở điều kiện của họ. Đừng so trực tiếp số của mình với bảng trong paper.</a:t>
            </a:r>
            <a:endParaRPr lang="en-US" sz="1150" dirty="0"/>
          </a:p>
        </p:txBody>
      </p:sp>
      <p:sp>
        <p:nvSpPr>
          <p:cNvPr id="25" name="Slide Number Placeholder 0"/>
          <p:cNvSpPr>
            <a:spLocks noGrp="1"/>
          </p:cNvSpPr>
          <p:nvPr>
            <p:ph type="sldNum" sz="quarter" idx="4294967295"/>
          </p:nvPr>
        </p:nvSpPr>
        <p:spPr>
          <a:xfrm>
            <a:off x="11338560" y="63550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9C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731520" y="731520"/>
            <a:ext cx="10698480" cy="822960"/>
          </a:xfrm>
          <a:prstGeom prst="rect">
            <a:avLst/>
          </a:prstGeom>
          <a:noFill/>
          <a:ln/>
        </p:spPr>
        <p:txBody>
          <a:bodyPr wrap="square" rtlCol="0" anchor="ctr"/>
          <a:lstStyle/>
          <a:p>
            <a:pPr algn="l" indent="0" marL="0">
              <a:buNone/>
            </a:pPr>
            <a:r>
              <a:rPr lang="en-US" sz="3600" b="1" dirty="0">
                <a:solidFill>
                  <a:srgbClr val="FFFFFF"/>
                </a:solidFill>
              </a:rPr>
              <a:t>Tóm lại</a:t>
            </a:r>
            <a:endParaRPr lang="en-US" sz="3600" dirty="0"/>
          </a:p>
        </p:txBody>
      </p:sp>
      <p:sp>
        <p:nvSpPr>
          <p:cNvPr id="3" name="Shape 1"/>
          <p:cNvSpPr/>
          <p:nvPr/>
        </p:nvSpPr>
        <p:spPr>
          <a:xfrm>
            <a:off x="731520" y="1993392"/>
            <a:ext cx="502920" cy="502920"/>
          </a:xfrm>
          <a:prstGeom prst="ellipse">
            <a:avLst/>
          </a:prstGeom>
          <a:solidFill>
            <a:srgbClr val="02C39A"/>
          </a:solidFill>
          <a:ln/>
        </p:spPr>
      </p:sp>
      <p:sp>
        <p:nvSpPr>
          <p:cNvPr id="4" name="Text 2"/>
          <p:cNvSpPr txBox="1"/>
          <p:nvPr/>
        </p:nvSpPr>
        <p:spPr>
          <a:xfrm>
            <a:off x="731520" y="199339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508760" y="1920240"/>
            <a:ext cx="9875520" cy="411480"/>
          </a:xfrm>
          <a:prstGeom prst="rect">
            <a:avLst/>
          </a:prstGeom>
          <a:noFill/>
          <a:ln/>
        </p:spPr>
        <p:txBody>
          <a:bodyPr wrap="square" lIns="0" tIns="0" rIns="0" bIns="0" rtlCol="0" anchor="ctr"/>
          <a:lstStyle/>
          <a:p>
            <a:pPr indent="0" marL="0">
              <a:buNone/>
            </a:pPr>
            <a:r>
              <a:rPr lang="en-US" sz="2000" b="1" dirty="0">
                <a:solidFill>
                  <a:srgbClr val="FFFFFF"/>
                </a:solidFill>
              </a:rPr>
              <a:t>Retrieval tìm, VLM trả lời</a:t>
            </a:r>
            <a:endParaRPr lang="en-US" sz="2000" dirty="0"/>
          </a:p>
        </p:txBody>
      </p:sp>
      <p:sp>
        <p:nvSpPr>
          <p:cNvPr id="6" name="Text 4"/>
          <p:cNvSpPr txBox="1"/>
          <p:nvPr/>
        </p:nvSpPr>
        <p:spPr>
          <a:xfrm>
            <a:off x="1508760" y="2359152"/>
            <a:ext cx="9875520" cy="548640"/>
          </a:xfrm>
          <a:prstGeom prst="rect">
            <a:avLst/>
          </a:prstGeom>
          <a:noFill/>
          <a:ln/>
        </p:spPr>
        <p:txBody>
          <a:bodyPr wrap="square" lIns="0" tIns="0" rIns="0" bIns="0" rtlCol="0" anchor="t"/>
          <a:lstStyle/>
          <a:p>
            <a:pPr indent="0" marL="0">
              <a:buNone/>
            </a:pPr>
            <a:r>
              <a:rPr lang="en-US" sz="1400" dirty="0">
                <a:solidFill>
                  <a:srgbClr val="AEB9C0"/>
                </a:solidFill>
              </a:rPr>
              <a:t>Hai bước sinh hai loại lỗi khác nhau và phải được đo riêng.</a:t>
            </a:r>
            <a:endParaRPr lang="en-US" sz="1400" dirty="0"/>
          </a:p>
        </p:txBody>
      </p:sp>
      <p:sp>
        <p:nvSpPr>
          <p:cNvPr id="7" name="Shape 5"/>
          <p:cNvSpPr/>
          <p:nvPr/>
        </p:nvSpPr>
        <p:spPr>
          <a:xfrm>
            <a:off x="731520" y="3227832"/>
            <a:ext cx="502920" cy="502920"/>
          </a:xfrm>
          <a:prstGeom prst="ellipse">
            <a:avLst/>
          </a:prstGeom>
          <a:solidFill>
            <a:srgbClr val="02C39A"/>
          </a:solidFill>
          <a:ln/>
        </p:spPr>
      </p:sp>
      <p:sp>
        <p:nvSpPr>
          <p:cNvPr id="8" name="Text 6"/>
          <p:cNvSpPr txBox="1"/>
          <p:nvPr/>
        </p:nvSpPr>
        <p:spPr>
          <a:xfrm>
            <a:off x="731520" y="322783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508760" y="3154680"/>
            <a:ext cx="9875520" cy="411480"/>
          </a:xfrm>
          <a:prstGeom prst="rect">
            <a:avLst/>
          </a:prstGeom>
          <a:noFill/>
          <a:ln/>
        </p:spPr>
        <p:txBody>
          <a:bodyPr wrap="square" lIns="0" tIns="0" rIns="0" bIns="0" rtlCol="0" anchor="ctr"/>
          <a:lstStyle/>
          <a:p>
            <a:pPr indent="0" marL="0">
              <a:buNone/>
            </a:pPr>
            <a:r>
              <a:rPr lang="en-US" sz="2000" b="1" dirty="0">
                <a:solidFill>
                  <a:srgbClr val="FFFFFF"/>
                </a:solidFill>
              </a:rPr>
              <a:t>Qwen2.5-VL-3B là lựa chọn thực dụng</a:t>
            </a:r>
            <a:endParaRPr lang="en-US" sz="2000" dirty="0"/>
          </a:p>
        </p:txBody>
      </p:sp>
      <p:sp>
        <p:nvSpPr>
          <p:cNvPr id="10" name="Text 8"/>
          <p:cNvSpPr txBox="1"/>
          <p:nvPr/>
        </p:nvSpPr>
        <p:spPr>
          <a:xfrm>
            <a:off x="1508760" y="3593592"/>
            <a:ext cx="9875520" cy="548640"/>
          </a:xfrm>
          <a:prstGeom prst="rect">
            <a:avLst/>
          </a:prstGeom>
          <a:noFill/>
          <a:ln/>
        </p:spPr>
        <p:txBody>
          <a:bodyPr wrap="square" lIns="0" tIns="0" rIns="0" bIns="0" rtlCol="0" anchor="t"/>
          <a:lstStyle/>
          <a:p>
            <a:pPr indent="0" marL="0">
              <a:buNone/>
            </a:pPr>
            <a:r>
              <a:rPr lang="en-US" sz="1400" dirty="0">
                <a:solidFill>
                  <a:srgbClr val="AEB9C0"/>
                </a:solidFill>
              </a:rPr>
              <a:t>3,75B tham số, native dynamic resolution, M-RoPE theo thời gian tuyệt đối — vừa một GPU 12 GB.</a:t>
            </a:r>
            <a:endParaRPr lang="en-US" sz="1400" dirty="0"/>
          </a:p>
        </p:txBody>
      </p:sp>
      <p:sp>
        <p:nvSpPr>
          <p:cNvPr id="11" name="Shape 9"/>
          <p:cNvSpPr/>
          <p:nvPr/>
        </p:nvSpPr>
        <p:spPr>
          <a:xfrm>
            <a:off x="731520" y="4462272"/>
            <a:ext cx="502920" cy="502920"/>
          </a:xfrm>
          <a:prstGeom prst="ellipse">
            <a:avLst/>
          </a:prstGeom>
          <a:solidFill>
            <a:srgbClr val="02C39A"/>
          </a:solidFill>
          <a:ln/>
        </p:spPr>
      </p:sp>
      <p:sp>
        <p:nvSpPr>
          <p:cNvPr id="12" name="Text 10"/>
          <p:cNvSpPr txBox="1"/>
          <p:nvPr/>
        </p:nvSpPr>
        <p:spPr>
          <a:xfrm>
            <a:off x="731520" y="4462272"/>
            <a:ext cx="502920" cy="50292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11"/>
          <p:cNvSpPr txBox="1"/>
          <p:nvPr/>
        </p:nvSpPr>
        <p:spPr>
          <a:xfrm>
            <a:off x="1508760" y="4389120"/>
            <a:ext cx="9875520" cy="411480"/>
          </a:xfrm>
          <a:prstGeom prst="rect">
            <a:avLst/>
          </a:prstGeom>
          <a:noFill/>
          <a:ln/>
        </p:spPr>
        <p:txBody>
          <a:bodyPr wrap="square" lIns="0" tIns="0" rIns="0" bIns="0" rtlCol="0" anchor="ctr"/>
          <a:lstStyle/>
          <a:p>
            <a:pPr indent="0" marL="0">
              <a:buNone/>
            </a:pPr>
            <a:r>
              <a:rPr lang="en-US" sz="2000" b="1" dirty="0">
                <a:solidFill>
                  <a:srgbClr val="FFFFFF"/>
                </a:solidFill>
              </a:rPr>
              <a:t>Đánh giá mới là phần nghiên cứu</a:t>
            </a:r>
            <a:endParaRPr lang="en-US" sz="2000" dirty="0"/>
          </a:p>
        </p:txBody>
      </p:sp>
      <p:sp>
        <p:nvSpPr>
          <p:cNvPr id="14" name="Text 12"/>
          <p:cNvSpPr txBox="1"/>
          <p:nvPr/>
        </p:nvSpPr>
        <p:spPr>
          <a:xfrm>
            <a:off x="1508760" y="4828032"/>
            <a:ext cx="9875520" cy="548640"/>
          </a:xfrm>
          <a:prstGeom prst="rect">
            <a:avLst/>
          </a:prstGeom>
          <a:noFill/>
          <a:ln/>
        </p:spPr>
        <p:txBody>
          <a:bodyPr wrap="square" lIns="0" tIns="0" rIns="0" bIns="0" rtlCol="0" anchor="t"/>
          <a:lstStyle/>
          <a:p>
            <a:pPr indent="0" marL="0">
              <a:buNone/>
            </a:pPr>
            <a:r>
              <a:rPr lang="en-US" sz="1400" dirty="0">
                <a:solidFill>
                  <a:srgbClr val="AEB9C0"/>
                </a:solidFill>
              </a:rPr>
              <a:t>Oracle upper bound, ablation từng nguồn input, và hai phép thử blind / shuffle frame.</a:t>
            </a:r>
            <a:endParaRPr lang="en-US" sz="1400" dirty="0"/>
          </a:p>
        </p:txBody>
      </p:sp>
      <p:sp>
        <p:nvSpPr>
          <p:cNvPr id="15" name="Text 13"/>
          <p:cNvSpPr txBox="1"/>
          <p:nvPr/>
        </p:nvSpPr>
        <p:spPr>
          <a:xfrm>
            <a:off x="731520" y="5760720"/>
            <a:ext cx="10698480" cy="365760"/>
          </a:xfrm>
          <a:prstGeom prst="rect">
            <a:avLst/>
          </a:prstGeom>
          <a:noFill/>
          <a:ln/>
        </p:spPr>
        <p:txBody>
          <a:bodyPr wrap="square" lIns="0" tIns="0" rIns="0" bIns="0" rtlCol="0" anchor="ctr"/>
          <a:lstStyle/>
          <a:p>
            <a:pPr indent="0" marL="0">
              <a:buNone/>
            </a:pPr>
            <a:r>
              <a:rPr lang="en-US" sz="1500" b="1" dirty="0">
                <a:solidFill>
                  <a:srgbClr val="02C39A"/>
                </a:solidFill>
              </a:rPr>
              <a:t>Bước tiếp theo: dựng tập đánh giá có annotation frame chứa đáp án, rồi chạy bảng ablation</a:t>
            </a:r>
            <a:endParaRPr lang="en-US" sz="1500" dirty="0"/>
          </a:p>
        </p:txBody>
      </p:sp>
    </p:spTree>
  </p:cSld>
  <p:clrMapOvr>
    <a:masterClrMapping/>
  </p:clrMapOvr>
</p:sld>
</file>

<file path=ppt/theme/theme1.xml><?xml version="1.0" encoding="utf-8"?>
<a:theme xmlns:a="http://schemas.openxmlformats.org/drawingml/2006/main" name="Qwen VLM Deck">
  <a:themeElements>
    <a:clrScheme name="Qwen VLM Deck">
      <a:dk1>
        <a:srgbClr val="1A1F24"/>
      </a:dk1>
      <a:lt1>
        <a:srgbClr val="FFFFFF"/>
      </a:lt1>
      <a:dk2>
        <a:srgbClr val="36454F"/>
      </a:dk2>
      <a:lt2>
        <a:srgbClr val="F1F4F5"/>
      </a:lt2>
      <a:accent1>
        <a:srgbClr val="02C39A"/>
      </a:accent1>
      <a:accent2>
        <a:srgbClr val="028090"/>
      </a:accent2>
      <a:accent3>
        <a:srgbClr val="36454F"/>
      </a:accent3>
      <a:accent4>
        <a:srgbClr val="7A8B99"/>
      </a:accent4>
      <a:accent5>
        <a:srgbClr val="F96167"/>
      </a:accent5>
      <a:accent6>
        <a:srgbClr val="00A896"/>
      </a:accent6>
      <a:hlink>
        <a:srgbClr val="028090"/>
      </a:hlink>
      <a:folHlink>
        <a:srgbClr val="7A8B99"/>
      </a:folHlink>
    </a:clrScheme>
    <a:fontScheme name="Qwen VLM Dec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Qwen2.5-VL-3B trong pipeline Video QA</dc:title>
  <dc:subject>PptxGenJS Presentation</dc:subject>
  <dc:creator>Deep Learning B3</dc:creator>
  <cp:lastModifiedBy>Deep Learning B3</cp:lastModifiedBy>
  <cp:revision>1</cp:revision>
  <dcterms:created xsi:type="dcterms:W3CDTF">2026-10-04T07:54:00Z</dcterms:created>
  <dcterms:modified xsi:type="dcterms:W3CDTF">2026-10-04T07:54:00Z</dcterms:modified>
</cp:coreProperties>
</file>